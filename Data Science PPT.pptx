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72" r:id="rId12"/>
    <p:sldId id="266" r:id="rId13"/>
    <p:sldId id="267" r:id="rId14"/>
    <p:sldId id="268" r:id="rId15"/>
    <p:sldId id="269" r:id="rId16"/>
    <p:sldId id="270" r:id="rId17"/>
    <p:sldId id="271"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CC99"/>
    <a:srgbClr val="000099"/>
    <a:srgbClr val="FF7C80"/>
    <a:srgbClr val="996633"/>
    <a:srgbClr val="00FFCC"/>
    <a:srgbClr val="FF66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autoAdjust="0"/>
    <p:restoredTop sz="9466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13FEEA-7EF8-4B4F-B647-AD5DE229E75B}" type="datetimeFigureOut">
              <a:rPr lang="en-IN" smtClean="0"/>
              <a:t>09-11-2025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19EBBD-D052-4B1B-97A1-FED2D203AD11}" type="slidenum">
              <a:rPr lang="en-IN" smtClean="0"/>
              <a:t>‹#›</a:t>
            </a:fld>
            <a:endParaRPr lang="en-IN"/>
          </a:p>
        </p:txBody>
      </p:sp>
    </p:spTree>
    <p:extLst>
      <p:ext uri="{BB962C8B-B14F-4D97-AF65-F5344CB8AC3E}">
        <p14:creationId xmlns:p14="http://schemas.microsoft.com/office/powerpoint/2010/main" val="400250551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21C35-106D-45D2-98A3-D27A656E76DB}" type="datetimeFigureOut">
              <a:rPr lang="en-IN" smtClean="0"/>
              <a:t>09-11-2025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554F3-B0BD-42B2-A7DD-86BA5FCB815B}" type="slidenum">
              <a:rPr lang="en-IN" smtClean="0"/>
              <a:t>‹#›</a:t>
            </a:fld>
            <a:endParaRPr lang="en-IN"/>
          </a:p>
        </p:txBody>
      </p:sp>
    </p:spTree>
    <p:extLst>
      <p:ext uri="{BB962C8B-B14F-4D97-AF65-F5344CB8AC3E}">
        <p14:creationId xmlns:p14="http://schemas.microsoft.com/office/powerpoint/2010/main" val="2846831749"/>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D713962-4865-4228-81E3-00D3CFBC0BFA}" type="datetime1">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8300" y="6445250"/>
            <a:ext cx="2743200" cy="365125"/>
          </a:xfrm>
        </p:spPr>
        <p:txBody>
          <a:bodyPr/>
          <a:lstStyle/>
          <a:p>
            <a:fld id="{38A635C9-4A98-4745-BD96-9D0E32025E69}" type="slidenum">
              <a:rPr lang="en-IN" smtClean="0"/>
              <a:t>‹#›</a:t>
            </a:fld>
            <a:endParaRPr lang="en-IN" dirty="0"/>
          </a:p>
        </p:txBody>
      </p:sp>
    </p:spTree>
    <p:extLst>
      <p:ext uri="{BB962C8B-B14F-4D97-AF65-F5344CB8AC3E}">
        <p14:creationId xmlns:p14="http://schemas.microsoft.com/office/powerpoint/2010/main" val="244172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159816-9E0E-4378-B675-9EC54FD6E1EE}" type="datetime1">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333273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6F0435-5393-459B-B8D1-48E7839C38C5}" type="datetime1">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649543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52D6B79-AEBC-4F2D-871B-4F95F7AD7A80}" type="datetime1">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410643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B2545F7-ABF2-4D18-ACD2-7BD0A8EF4B83}" type="datetime1">
              <a:rPr lang="en-IN" smtClean="0"/>
              <a:t>09-11-2025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414335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7FE66FB-CD15-47C6-89EF-F7FE10D1EED8}" type="datetime1">
              <a:rPr lang="en-IN" smtClean="0"/>
              <a:t>09-11-2025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492890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6808B-F1D3-4175-85AD-E8FCCDE72517}" type="datetime1">
              <a:rPr lang="en-IN" smtClean="0"/>
              <a:t>09-11-2025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85576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B3C0D1-6746-44E2-8941-ACBF328B313B}" type="datetime1">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187909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19EB3B-693B-49EE-AD0C-7C04F31CDB5B}" type="datetime1">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205872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C6663D-5144-4E9D-ACC1-AE116A0B35F1}" type="datetime1">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369819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C72366-8802-4337-B04F-63ED80D84AF4}" type="datetime1">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635C9-4A98-4745-BD96-9D0E32025E69}" type="slidenum">
              <a:rPr lang="en-IN" smtClean="0"/>
              <a:t>‹#›</a:t>
            </a:fld>
            <a:endParaRPr lang="en-IN"/>
          </a:p>
        </p:txBody>
      </p:sp>
    </p:spTree>
    <p:extLst>
      <p:ext uri="{BB962C8B-B14F-4D97-AF65-F5344CB8AC3E}">
        <p14:creationId xmlns:p14="http://schemas.microsoft.com/office/powerpoint/2010/main" val="29998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04D1D-AFCB-4734-808E-3BDFE7C445A8}" type="datetime1">
              <a:rPr lang="en-IN" smtClean="0"/>
              <a:t>09-11-2025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9258300" y="6492875"/>
            <a:ext cx="2743200" cy="365125"/>
          </a:xfrm>
          <a:prstGeom prst="rect">
            <a:avLst/>
          </a:prstGeom>
        </p:spPr>
        <p:txBody>
          <a:bodyPr vert="horz" lIns="91440" tIns="45720" rIns="91440" bIns="45720" rtlCol="0" anchor="ctr"/>
          <a:lstStyle>
            <a:lvl1pPr algn="r">
              <a:defRPr sz="1200" b="1">
                <a:solidFill>
                  <a:schemeClr val="bg1"/>
                </a:solidFill>
              </a:defRPr>
            </a:lvl1pPr>
          </a:lstStyle>
          <a:p>
            <a:fld id="{38A635C9-4A98-4745-BD96-9D0E32025E69}" type="slidenum">
              <a:rPr lang="en-IN" smtClean="0"/>
              <a:pPr/>
              <a:t>‹#›</a:t>
            </a:fld>
            <a:endParaRPr lang="en-IN" dirty="0"/>
          </a:p>
        </p:txBody>
      </p:sp>
    </p:spTree>
    <p:extLst>
      <p:ext uri="{BB962C8B-B14F-4D97-AF65-F5344CB8AC3E}">
        <p14:creationId xmlns:p14="http://schemas.microsoft.com/office/powerpoint/2010/main" val="59776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harshrkh/india-financial-news-headlines-sentiments"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hyperlink" Target="https://www.mcxindia.com/market-data/historical-data" TargetMode="External"/><Relationship Id="rId4" Type="http://schemas.openxmlformats.org/officeDocument/2006/relationships/hyperlink" Target="https://www.nseindia.com/report-detail/monthly-settlement-statistic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8B3B0A-D291-4B7B-AB48-0197BCAFFEFD}"/>
              </a:ext>
            </a:extLst>
          </p:cNvPr>
          <p:cNvSpPr txBox="1"/>
          <p:nvPr/>
        </p:nvSpPr>
        <p:spPr>
          <a:xfrm>
            <a:off x="0" y="2563005"/>
            <a:ext cx="12192000" cy="1261884"/>
          </a:xfrm>
          <a:prstGeom prst="rect">
            <a:avLst/>
          </a:prstGeom>
          <a:solidFill>
            <a:srgbClr val="C00000"/>
          </a:solidFill>
          <a:effectLst>
            <a:outerShdw blurRad="50800" dist="38100" dir="2700000" algn="tl" rotWithShape="0">
              <a:prstClr val="black">
                <a:alpha val="40000"/>
              </a:prstClr>
            </a:outerShdw>
          </a:effectLst>
        </p:spPr>
        <p:txBody>
          <a:bodyPr wrap="square" rtlCol="0" anchor="ctr">
            <a:spAutoFit/>
          </a:bodyPr>
          <a:lstStyle/>
          <a:p>
            <a:pPr algn="ctr"/>
            <a:r>
              <a:rPr lang="en-US" sz="3800" dirty="0">
                <a:solidFill>
                  <a:schemeClr val="bg1"/>
                </a:solidFill>
              </a:rPr>
              <a:t>From Headlines to Markets: A Data Mining Approach to Decode Financial News Impact on Stocks and Commodities</a:t>
            </a:r>
            <a:endParaRPr lang="ko-KR" altLang="en-US" sz="3800" dirty="0">
              <a:solidFill>
                <a:schemeClr val="bg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CF8B3B0A-D291-4B7B-AB48-0197BCAFFEFD}"/>
              </a:ext>
            </a:extLst>
          </p:cNvPr>
          <p:cNvSpPr txBox="1"/>
          <p:nvPr/>
        </p:nvSpPr>
        <p:spPr>
          <a:xfrm>
            <a:off x="2798011" y="5632528"/>
            <a:ext cx="6579821" cy="369332"/>
          </a:xfrm>
          <a:prstGeom prst="rect">
            <a:avLst/>
          </a:prstGeom>
          <a:noFill/>
        </p:spPr>
        <p:txBody>
          <a:bodyPr wrap="square" rtlCol="0" anchor="ctr">
            <a:spAutoFit/>
          </a:bodyPr>
          <a:lstStyle/>
          <a:p>
            <a:pPr algn="ctr"/>
            <a:r>
              <a:rPr lang="en-US" altLang="ko-KR" b="1" dirty="0">
                <a:solidFill>
                  <a:srgbClr val="000099"/>
                </a:solidFill>
                <a:latin typeface="Times New Roman" pitchFamily="18" charset="0"/>
                <a:cs typeface="Times New Roman" pitchFamily="18" charset="0"/>
              </a:rPr>
              <a:t>Symbiosis Institute of Technology, Nagpur Campus</a:t>
            </a:r>
            <a:endParaRPr lang="ko-KR" altLang="en-US" b="1" dirty="0">
              <a:solidFill>
                <a:srgbClr val="000099"/>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CF8B3B0A-D291-4B7B-AB48-0197BCAFFEFD}"/>
              </a:ext>
            </a:extLst>
          </p:cNvPr>
          <p:cNvSpPr txBox="1"/>
          <p:nvPr/>
        </p:nvSpPr>
        <p:spPr>
          <a:xfrm>
            <a:off x="1133105" y="1595983"/>
            <a:ext cx="9853560" cy="954107"/>
          </a:xfrm>
          <a:prstGeom prst="rect">
            <a:avLst/>
          </a:prstGeom>
          <a:noFill/>
        </p:spPr>
        <p:txBody>
          <a:bodyPr wrap="square" rtlCol="0" anchor="ctr">
            <a:spAutoFit/>
          </a:bodyPr>
          <a:lstStyle/>
          <a:p>
            <a:pPr algn="ctr"/>
            <a:r>
              <a:rPr lang="en-US" altLang="ko-KR" sz="5600" dirty="0">
                <a:solidFill>
                  <a:srgbClr val="000099"/>
                </a:solidFill>
                <a:latin typeface="Times New Roman" pitchFamily="18" charset="0"/>
                <a:cs typeface="Times New Roman" pitchFamily="18" charset="0"/>
              </a:rPr>
              <a:t>Data Science Presentation</a:t>
            </a:r>
          </a:p>
        </p:txBody>
      </p:sp>
      <p:sp>
        <p:nvSpPr>
          <p:cNvPr id="43" name="TextBox 42">
            <a:extLst>
              <a:ext uri="{FF2B5EF4-FFF2-40B4-BE49-F238E27FC236}">
                <a16:creationId xmlns:a16="http://schemas.microsoft.com/office/drawing/2014/main" id="{CF8B3B0A-D291-4B7B-AB48-0197BCAFFEFD}"/>
              </a:ext>
            </a:extLst>
          </p:cNvPr>
          <p:cNvSpPr txBox="1"/>
          <p:nvPr/>
        </p:nvSpPr>
        <p:spPr>
          <a:xfrm>
            <a:off x="2938869" y="4179056"/>
            <a:ext cx="3038761" cy="1015663"/>
          </a:xfrm>
          <a:prstGeom prst="rect">
            <a:avLst/>
          </a:prstGeom>
          <a:noFill/>
        </p:spPr>
        <p:txBody>
          <a:bodyPr wrap="square" rtlCol="0" anchor="ctr">
            <a:spAutoFit/>
          </a:bodyPr>
          <a:lstStyle/>
          <a:p>
            <a:r>
              <a:rPr lang="en-US" altLang="ko-KR" sz="2000" dirty="0">
                <a:solidFill>
                  <a:srgbClr val="000099"/>
                </a:solidFill>
                <a:latin typeface="Times New Roman" pitchFamily="18" charset="0"/>
                <a:cs typeface="Times New Roman" pitchFamily="18" charset="0"/>
              </a:rPr>
              <a:t>Mukund Kuthe </a:t>
            </a:r>
          </a:p>
          <a:p>
            <a:r>
              <a:rPr lang="en-US" altLang="ko-KR" sz="2000" dirty="0">
                <a:solidFill>
                  <a:srgbClr val="000099"/>
                </a:solidFill>
                <a:latin typeface="Times New Roman" pitchFamily="18" charset="0"/>
                <a:cs typeface="Times New Roman" pitchFamily="18" charset="0"/>
              </a:rPr>
              <a:t>Sem: V Section: B</a:t>
            </a:r>
          </a:p>
          <a:p>
            <a:r>
              <a:rPr lang="en-US" altLang="ko-KR" sz="2000" dirty="0">
                <a:solidFill>
                  <a:srgbClr val="000099"/>
                </a:solidFill>
                <a:latin typeface="Times New Roman" pitchFamily="18" charset="0"/>
                <a:cs typeface="Times New Roman" pitchFamily="18" charset="0"/>
              </a:rPr>
              <a:t>PRN: 23070521082</a:t>
            </a:r>
          </a:p>
        </p:txBody>
      </p:sp>
      <p:grpSp>
        <p:nvGrpSpPr>
          <p:cNvPr id="85" name="Group 84"/>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F5B2E5E-F1FB-4B49-A15E-DFC13B08436B}"/>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65E93E9-4624-4300-9736-8AD2206DEEDC}"/>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95" name="Group 194">
            <a:extLst>
              <a:ext uri="{FF2B5EF4-FFF2-40B4-BE49-F238E27FC236}">
                <a16:creationId xmlns:a16="http://schemas.microsoft.com/office/drawing/2014/main" id="{565E93E9-4624-4300-9736-8AD2206DEEDC}"/>
              </a:ext>
            </a:extLst>
          </p:cNvPr>
          <p:cNvGrpSpPr/>
          <p:nvPr/>
        </p:nvGrpSpPr>
        <p:grpSpPr>
          <a:xfrm>
            <a:off x="450920" y="6490548"/>
            <a:ext cx="4247655" cy="273466"/>
            <a:chOff x="4366684" y="2926127"/>
            <a:chExt cx="3278335" cy="2571063"/>
          </a:xfrm>
        </p:grpSpPr>
        <p:sp>
          <p:nvSpPr>
            <p:cNvPr id="196"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7"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8"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99"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0"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1"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2"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3"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4"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5"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6"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7"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8"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09"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0"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1"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2"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3"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4"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5"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6"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7"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8"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19"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0"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1"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2"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3"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4"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5"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6"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7"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8"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29"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230"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521" y="190223"/>
            <a:ext cx="6879350" cy="999746"/>
          </a:xfrm>
          <a:prstGeom prst="rect">
            <a:avLst/>
          </a:prstGeom>
        </p:spPr>
      </p:pic>
      <p:grpSp>
        <p:nvGrpSpPr>
          <p:cNvPr id="7" name="Group 6"/>
          <p:cNvGrpSpPr/>
          <p:nvPr/>
        </p:nvGrpSpPr>
        <p:grpSpPr>
          <a:xfrm>
            <a:off x="4815395" y="6382131"/>
            <a:ext cx="7369479" cy="465286"/>
            <a:chOff x="4817758" y="6382984"/>
            <a:chExt cx="7369479" cy="465286"/>
          </a:xfrm>
        </p:grpSpPr>
        <p:sp>
          <p:nvSpPr>
            <p:cNvPr id="3" name="Rectangle 2"/>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sp>
        <p:nvSpPr>
          <p:cNvPr id="10" name="Slide Number Placeholder 9"/>
          <p:cNvSpPr>
            <a:spLocks noGrp="1"/>
          </p:cNvSpPr>
          <p:nvPr>
            <p:ph type="sldNum" sz="quarter" idx="12"/>
          </p:nvPr>
        </p:nvSpPr>
        <p:spPr/>
        <p:txBody>
          <a:bodyPr/>
          <a:lstStyle/>
          <a:p>
            <a:fld id="{38A635C9-4A98-4745-BD96-9D0E32025E69}" type="slidenum">
              <a:rPr lang="en-IN" smtClean="0"/>
              <a:t>1</a:t>
            </a:fld>
            <a:endParaRPr lang="en-IN"/>
          </a:p>
        </p:txBody>
      </p:sp>
      <p:sp>
        <p:nvSpPr>
          <p:cNvPr id="9" name="TextBox 8">
            <a:extLst>
              <a:ext uri="{FF2B5EF4-FFF2-40B4-BE49-F238E27FC236}">
                <a16:creationId xmlns:a16="http://schemas.microsoft.com/office/drawing/2014/main" id="{1650F8FD-22A4-67B9-0211-254433E4E745}"/>
              </a:ext>
            </a:extLst>
          </p:cNvPr>
          <p:cNvSpPr txBox="1"/>
          <p:nvPr/>
        </p:nvSpPr>
        <p:spPr>
          <a:xfrm>
            <a:off x="6285481" y="4179057"/>
            <a:ext cx="3038761" cy="1015663"/>
          </a:xfrm>
          <a:prstGeom prst="rect">
            <a:avLst/>
          </a:prstGeom>
          <a:noFill/>
        </p:spPr>
        <p:txBody>
          <a:bodyPr wrap="square" rtlCol="0" anchor="ctr">
            <a:spAutoFit/>
          </a:bodyPr>
          <a:lstStyle/>
          <a:p>
            <a:r>
              <a:rPr lang="en-US" altLang="ko-KR" sz="2000" dirty="0">
                <a:solidFill>
                  <a:srgbClr val="000099"/>
                </a:solidFill>
                <a:latin typeface="Times New Roman" pitchFamily="18" charset="0"/>
                <a:cs typeface="Times New Roman" pitchFamily="18" charset="0"/>
              </a:rPr>
              <a:t>Ravi Kumar Kushwaha</a:t>
            </a:r>
          </a:p>
          <a:p>
            <a:r>
              <a:rPr lang="en-US" altLang="ko-KR" sz="2000" dirty="0">
                <a:solidFill>
                  <a:srgbClr val="000099"/>
                </a:solidFill>
                <a:latin typeface="Times New Roman" pitchFamily="18" charset="0"/>
                <a:cs typeface="Times New Roman" pitchFamily="18" charset="0"/>
              </a:rPr>
              <a:t>Sem: V Section: B</a:t>
            </a:r>
          </a:p>
          <a:p>
            <a:r>
              <a:rPr lang="en-US" altLang="ko-KR" sz="2000" dirty="0">
                <a:solidFill>
                  <a:srgbClr val="000099"/>
                </a:solidFill>
                <a:latin typeface="Times New Roman" pitchFamily="18" charset="0"/>
                <a:cs typeface="Times New Roman" pitchFamily="18" charset="0"/>
              </a:rPr>
              <a:t>PRN: 23070521116</a:t>
            </a:r>
          </a:p>
        </p:txBody>
      </p:sp>
    </p:spTree>
    <p:extLst>
      <p:ext uri="{BB962C8B-B14F-4D97-AF65-F5344CB8AC3E}">
        <p14:creationId xmlns:p14="http://schemas.microsoft.com/office/powerpoint/2010/main" val="321747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0F5B2E5E-F1FB-4B49-A15E-DFC13B08436B}"/>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65E93E9-4624-4300-9736-8AD2206DEEDC}"/>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565E93E9-4624-4300-9736-8AD2206DEED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Problem Statement</a:t>
            </a:r>
            <a:endParaRPr lang="ko-KR" altLang="en-US" sz="3600" dirty="0">
              <a:solidFill>
                <a:srgbClr val="000099"/>
              </a:solidFill>
              <a:latin typeface="Times New Roman" pitchFamily="18" charset="0"/>
              <a:cs typeface="Times New Roman"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p:cNvSpPr>
            <a:spLocks noGrp="1"/>
          </p:cNvSpPr>
          <p:nvPr>
            <p:ph type="sldNum" sz="quarter" idx="12"/>
          </p:nvPr>
        </p:nvSpPr>
        <p:spPr/>
        <p:txBody>
          <a:bodyPr/>
          <a:lstStyle/>
          <a:p>
            <a:fld id="{38A635C9-4A98-4745-BD96-9D0E32025E69}" type="slidenum">
              <a:rPr lang="en-IN" smtClean="0"/>
              <a:t>2</a:t>
            </a:fld>
            <a:endParaRPr lang="en-IN" dirty="0"/>
          </a:p>
        </p:txBody>
      </p:sp>
      <p:sp>
        <p:nvSpPr>
          <p:cNvPr id="3" name="TextBox 2">
            <a:extLst>
              <a:ext uri="{FF2B5EF4-FFF2-40B4-BE49-F238E27FC236}">
                <a16:creationId xmlns:a16="http://schemas.microsoft.com/office/drawing/2014/main" id="{4944A026-2A13-D051-1BF3-F9D69E57D1ED}"/>
              </a:ext>
            </a:extLst>
          </p:cNvPr>
          <p:cNvSpPr txBox="1"/>
          <p:nvPr/>
        </p:nvSpPr>
        <p:spPr>
          <a:xfrm>
            <a:off x="450093" y="1522872"/>
            <a:ext cx="6834040" cy="3416320"/>
          </a:xfrm>
          <a:prstGeom prst="rect">
            <a:avLst/>
          </a:prstGeom>
          <a:noFill/>
        </p:spPr>
        <p:txBody>
          <a:bodyPr wrap="square" rtlCol="0">
            <a:spAutoFit/>
          </a:bodyPr>
          <a:lstStyle/>
          <a:p>
            <a:pPr algn="just"/>
            <a:r>
              <a:rPr lang="en-US" dirty="0"/>
              <a:t>Financial markets are highly influenced by dynamic information sources such as news articles, reports, and policy announcements. These news events directly affect investor sentiment and market behavior across multiple sectors including equities, commodities, and derivatives. However, due to the unstructured nature of textual data and the complexity of market indicators, it becomes challenging to analyze and interpret these relationships effectively.</a:t>
            </a:r>
          </a:p>
          <a:p>
            <a:pPr algn="just"/>
            <a:br>
              <a:rPr lang="en-US" dirty="0"/>
            </a:br>
            <a:r>
              <a:rPr lang="en-US" dirty="0"/>
              <a:t>Hence, there is a need for a </a:t>
            </a:r>
            <a:r>
              <a:rPr lang="en-US" b="1" dirty="0"/>
              <a:t>data mining-based approach</a:t>
            </a:r>
            <a:r>
              <a:rPr lang="en-US" dirty="0"/>
              <a:t> that integrates both </a:t>
            </a:r>
            <a:r>
              <a:rPr lang="en-US" b="1" dirty="0"/>
              <a:t>structured financial data</a:t>
            </a:r>
            <a:r>
              <a:rPr lang="en-US" dirty="0"/>
              <a:t> and </a:t>
            </a:r>
            <a:r>
              <a:rPr lang="en-US" b="1" dirty="0"/>
              <a:t>unstructured news data</a:t>
            </a:r>
            <a:r>
              <a:rPr lang="en-US" dirty="0"/>
              <a:t> to uncover hidden patterns and associations that explain how financial news impacts market performance.</a:t>
            </a:r>
            <a:endParaRPr lang="en-IN" dirty="0"/>
          </a:p>
        </p:txBody>
      </p:sp>
      <p:pic>
        <p:nvPicPr>
          <p:cNvPr id="1026" name="Picture 2">
            <a:extLst>
              <a:ext uri="{FF2B5EF4-FFF2-40B4-BE49-F238E27FC236}">
                <a16:creationId xmlns:a16="http://schemas.microsoft.com/office/drawing/2014/main" id="{122D4DC7-79E9-12DE-7757-03B2D4E54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2989" y="1219680"/>
            <a:ext cx="3424334" cy="4022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38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C76FF-0ABA-531D-545B-19493356CEF9}"/>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C4274CF1-DC89-F2BC-28E6-35BFD84692B5}"/>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35CAD72F-4F52-F9D1-83EF-6D90575E1FDC}"/>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98E0F7FB-8D62-997F-D0C1-3014FAE4E13E}"/>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0E1426B1-364B-213B-4EEE-5FA266E840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32902722-A08E-8611-72B8-732C8D95BD8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12E05A9D-BCE8-5DD4-C343-EB5EE2133A2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47E30230-1ECC-B2CC-DC6F-13E96DF20817}"/>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D44F6AA-4CBC-6F91-8FCF-0BD3B32DA5A8}"/>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1EA3EBEE-59D1-1286-398A-85D6F4252444}"/>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32A03C2F-3525-5530-5331-DABE06F92C9A}"/>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3AEC9D5D-A002-122D-6999-4CB85E233E6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FE7F170A-17A4-AFAA-568A-CECF69EA9505}"/>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69793984-7B11-D375-A99A-B8FE8361645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F1CEA2A3-54A8-5191-E788-B6FDC6081CB5}"/>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201C9C5E-1335-5456-2C40-99305411494F}"/>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E5912B65-0DF4-3D68-79E0-C89598B1E129}"/>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55DAC6C2-2B9F-D844-D977-C80FC322B21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FB828988-27A1-DEC9-4082-479CB618086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25EC3518-5DBF-DED2-92A0-25AE389E912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47DEED0B-25B5-1655-B283-B27FAC8B387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78230166-9A25-D3BD-7138-D39A63DC965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FBAF6E26-FE1E-33B4-766E-6B8B279D540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A66783E3-8B4C-7B4F-534E-A9C539C72D1D}"/>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37F04C7F-F228-C252-094C-353B9DF980D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2ED909A9-1E5C-E13A-BDFB-A41124C525E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9C5F69EB-931D-25BC-6091-C7B6D9401F2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046619F1-2150-2585-6EA5-4D1EC9192C2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9C1FDFF1-ECC3-3E0E-C807-47CA47EE9A5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40B3256A-B0AB-16AF-2E98-42AC50F148DF}"/>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A166C2B4-4BA7-6305-B54D-388C2D072D1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43A50451-88AD-369C-FB52-B34386A52E63}"/>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89CF3BF1-2228-6D7D-C250-1FDB2538AE6C}"/>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15769F9A-C62F-49A2-BDE9-2801760CA43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9A387405-7A65-F64E-E11F-4CCDCFF9292E}"/>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5649B280-21B4-3489-57E9-24AEF92D881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E5D7976-958A-80C8-0D29-D20E80FAB50D}"/>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D61BEC52-2F2D-6516-1972-2A663E99C75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746595B6-8821-AC3B-A892-531F46F809C2}"/>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629B72E-CE5F-8D1F-9727-204EF207C875}"/>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99C9491-AD23-DDD1-0818-2DB1F83CF270}"/>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7B8C16A0-AE88-B4FA-827B-9E1A4AADDFB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57998865-C5D1-9B4C-22CB-C21245DC089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2CBEFF83-E4A8-6A8D-8B02-DCEE63B7C37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83680318-96B7-B3A8-EC2F-13B2D13AED3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FB2AAD9D-05F1-7115-B7D7-B38B3D3B95C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EAE96F0B-315E-B164-F2A6-6391A68C66A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C581BC5-F471-6013-333A-45C1F61B022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22723E88-507F-7ACA-6F29-FF6527D50B14}"/>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D5C061F4-C5E8-7D24-79E8-3BB3CA28ABEB}"/>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32737632-D771-9340-FD90-0A993E72E6B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D9E74C4A-3DF3-0CE0-2D8C-27CCC062A70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46E189A7-39C9-38E7-5934-C85615A4DAA5}"/>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A7EA8FB5-FCB0-8B8B-F56D-2449B8E50EDC}"/>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033F055C-C695-AC6F-58C9-FB37E9ABA60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310725AC-C54D-4535-08B2-2B3E0C74A62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A5D07106-9612-96E3-DC48-AA823ECD6AF5}"/>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120D0E52-684B-3D25-F265-F8D4E7BB3581}"/>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22B8289A-4648-AFCF-5D58-71FC40D4E5ED}"/>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AF586BA4-F410-E9E5-81AC-CCEB5947CB2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339CB2F5-FC6B-075A-0C9C-1A1D4D22308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410AECF5-741F-D849-D4F7-5ADCE4BE802B}"/>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32CD3266-3059-4B4C-20A3-A7FE41815D7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2DE7A353-5848-3D12-5821-6C01BAE867C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C9DA02FA-E204-1701-A553-87552F783A4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21129929-B15C-D07E-82BA-C5F28AEC1A06}"/>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BB821C3E-1312-FE1F-D352-CCE1A5ED0FE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30CDC929-7A0C-8E8D-6ECE-AEDEC06B9478}"/>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0B002C14-DDDB-5AD1-2CEE-95BB92C0F01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CF93AE5E-5817-DCA5-96D7-FD6231196260}"/>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7283348E-C50F-44BE-3159-E7330E114342}"/>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A518EB55-EFB0-7A7A-AF00-753108DDE20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8DB61CCC-ED2B-ED15-9FC1-811C163C94FD}"/>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86925073-FB7B-FADC-0758-57A5363AE720}"/>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0AA914A1-58AB-F602-BF02-35C276F4EBC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D31F22BA-9B61-2490-E73E-A63066D494CD}"/>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Objectives</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AFCA7F3-2D0F-9308-B181-F54A6D053B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419C9B58-066A-21DA-1141-589396439458}"/>
              </a:ext>
            </a:extLst>
          </p:cNvPr>
          <p:cNvSpPr>
            <a:spLocks noGrp="1"/>
          </p:cNvSpPr>
          <p:nvPr>
            <p:ph type="sldNum" sz="quarter" idx="12"/>
          </p:nvPr>
        </p:nvSpPr>
        <p:spPr/>
        <p:txBody>
          <a:bodyPr/>
          <a:lstStyle/>
          <a:p>
            <a:fld id="{38A635C9-4A98-4745-BD96-9D0E32025E69}" type="slidenum">
              <a:rPr lang="en-IN" smtClean="0"/>
              <a:t>3</a:t>
            </a:fld>
            <a:endParaRPr lang="en-IN" dirty="0"/>
          </a:p>
        </p:txBody>
      </p:sp>
      <p:sp>
        <p:nvSpPr>
          <p:cNvPr id="6" name="Rectangle 1">
            <a:extLst>
              <a:ext uri="{FF2B5EF4-FFF2-40B4-BE49-F238E27FC236}">
                <a16:creationId xmlns:a16="http://schemas.microsoft.com/office/drawing/2014/main" id="{5BB20D55-F768-F68F-D6AA-25AFC2F68D6B}"/>
              </a:ext>
            </a:extLst>
          </p:cNvPr>
          <p:cNvSpPr>
            <a:spLocks noChangeArrowheads="1"/>
          </p:cNvSpPr>
          <p:nvPr/>
        </p:nvSpPr>
        <p:spPr bwMode="auto">
          <a:xfrm>
            <a:off x="891707" y="1028343"/>
            <a:ext cx="1023103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To integrate and analyze multiple datasets: financial news, Indian stock market (NSE), futures &amp; options, and commodity market (MCX) data.</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To preprocess, transform, and unify structured and unstructured data using a common timeline (Month–Year).</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To apply data mining techniques such as association rule mining, classification, and clustering to discover hidden relationships and trends within Indian financial data.</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To identify how financial news sentiments influence key Indian market indicators like turnover, delivery percentage, MTM, and commodity value.</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To generate interpretable rules and insights that highlight the interdependency between news sentiment and market movement across equity, derivatives, and commodity domains in India.</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To visualize and interpret the discovered patterns to support data-driven financial analysis and decision-making in the Indian stock market context.</a:t>
            </a:r>
          </a:p>
        </p:txBody>
      </p:sp>
    </p:spTree>
    <p:extLst>
      <p:ext uri="{BB962C8B-B14F-4D97-AF65-F5344CB8AC3E}">
        <p14:creationId xmlns:p14="http://schemas.microsoft.com/office/powerpoint/2010/main" val="24018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5704-43C5-F69B-1561-C5D2CA1A233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35410A59-2124-F235-1F15-AFF8BD351884}"/>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437FEAA7-9950-5786-C934-B51A33505C25}"/>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2CA480F1-1EE5-0B89-9575-C92DB77137CA}"/>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2DD995EC-AA14-0DC8-1B79-38809DBAFA2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F96786FB-693C-4BD0-4F87-D8E14C08AED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6675947D-2732-1F9C-C1C9-6F97F35B7929}"/>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0F994F6F-D452-E1A8-C761-FF0CAC513B7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1C8121F9-AE83-74C3-A532-704DF41EAB6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CE91DF2B-806D-4DFB-5843-D0EF587E9DFD}"/>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C7A8909C-ACDE-CF8E-59ED-46A8F35BBBAD}"/>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BCBA1557-6A6F-8239-B11A-E5EE7FEA6B9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42D4E6BC-246D-09E4-DC54-E8601F5807A0}"/>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4E5FB6F0-CE7C-0D10-E7B3-BA4593B4A7D7}"/>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A4F4DF9C-85EC-3BE1-EA13-0CBFCD6AB1D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41447C7B-F938-046E-47B5-28B61C267C5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E14D3296-9213-FF85-F493-8C722E585137}"/>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46F691A-46D0-C233-DADD-A406E03FC375}"/>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650C469-F185-CF26-6E95-3141401A4DC4}"/>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799C7BBE-BFE6-C7E2-ACEA-552BC9782E1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993D3346-A982-64CF-2574-B2EEB441783F}"/>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962CA5F5-E913-C00B-F067-07C7422829F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18B76A47-0099-2EDB-17B4-485DC3B62FD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F5A61FEE-566B-99F1-28D7-93A79F49602B}"/>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6E45E52B-DFE2-210E-04B9-C35A60AAC6E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58E4DD91-6E59-0813-4F62-96A2A42D7B7E}"/>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A2D98405-3E0E-7AF3-897B-F61C6451ACA6}"/>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1028C84-A417-4972-9520-02939FD70E68}"/>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6A822712-41F3-CA58-0ABA-E8BC7F49E6EF}"/>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D41F164A-D7F5-5D62-5C02-78E53F25DC5B}"/>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70C1FB8C-0DFA-831B-9DD0-5B7C2D7B5F96}"/>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9DC93F93-93E4-834A-0B14-B3DA9D0EBE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28847F38-B93A-6720-C3F6-5B22DD9A1A90}"/>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387724A1-38BA-3A14-2558-F0B8379A381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71F87116-1EE4-0E3B-8CD5-5D26A9EE7EE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A89A3353-8713-2DE0-E77E-8022AAAB3BA5}"/>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0ACA83A4-131B-DE37-1AB1-C5AB55A338C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0721ABBD-54D0-6AFC-BF6B-04C7565C71D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2D5C0624-170D-BFF6-D76A-6430B83A12F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170F77C0-6E71-928A-F768-4D5659D9EF33}"/>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FD35C768-0CBD-0C0D-95E1-77ACFFC1190C}"/>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3896B979-D291-F1B9-AF8D-5ABFB1CBDBE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E158EDB9-9591-E062-BBAE-A27A959227D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5F1A65A8-FEE0-FD07-13EC-E731B3A256BA}"/>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11F13753-83AC-1545-8D52-BFB63786616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B66C6353-6B2C-3D38-369B-B1EB305D2AE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3C7A160C-68FE-DE44-3CEC-06426FAEA9CD}"/>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ABD64F23-1CA1-7CDF-AC9D-98539109B918}"/>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FE5A7B15-BFEF-0F6E-57A6-5F24A996765F}"/>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149AD327-FF1C-650E-E0EF-76E7EE973BD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A2C8D628-0A6A-35D5-8DBF-816321C14BB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3729FF41-DBAF-5B72-A6E9-6B3623AA6C9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C90FA813-F8DE-2F45-CA40-C64F81F84615}"/>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1B66A3E8-FD65-726C-99B9-138535E6E83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725F8885-0618-EAE1-DB71-A5FB4C84B643}"/>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3D407FF8-8A83-67AE-17B5-8EE85CBF47A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8DFD66B8-8ECE-44D2-8D43-3706A0E02FE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3CF9D150-BDBE-CEB7-CA5A-27AF5B591F4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B9A48718-5552-0AB0-6940-5824B285146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230C02BA-8B68-EF0A-0A2E-9999D84D2F1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76E7CB95-AF25-7825-2884-9F86AC2085A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D18CE3FA-A328-4BB0-BDE2-B6B3A5E880AB}"/>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6A5FDDAE-67EA-3EC6-7FBC-269571594CE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D4D9C242-1955-AAE7-5A1B-9BE0619508E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B1B28B65-B8A9-F1C1-9A7B-F7E3700384E7}"/>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4E48AF39-EB1D-70DC-4530-8EC9CF7BBF9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2546A5C4-54E2-2885-6BC7-23193DBCE54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1BC1B9B1-C197-F12C-7FB5-989BF4EDA20C}"/>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707F15DC-B2F3-CDBB-54D1-AB919501805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1272B5ED-BF85-FD85-9632-06E97161E75A}"/>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A0440463-11FC-9DB4-6F72-6C2751D338F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887861FC-97CD-6376-CD9E-819E9FC5498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394872B4-DF8F-888F-AFC2-F5D73761A8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BC20C997-DC87-9DA9-DFB5-397F554DF89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A964E76C-E23E-21CD-8FA4-E439B76689C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D3F0471E-42CD-2996-CF74-EA0AF8D5BC91}"/>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Dataset Used</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5CED8444-8A36-8B71-E1A2-DFF681249D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B04AE0C5-21AE-1539-E954-B9EF82D02379}"/>
              </a:ext>
            </a:extLst>
          </p:cNvPr>
          <p:cNvSpPr>
            <a:spLocks noGrp="1"/>
          </p:cNvSpPr>
          <p:nvPr>
            <p:ph type="sldNum" sz="quarter" idx="12"/>
          </p:nvPr>
        </p:nvSpPr>
        <p:spPr/>
        <p:txBody>
          <a:bodyPr/>
          <a:lstStyle/>
          <a:p>
            <a:fld id="{38A635C9-4A98-4745-BD96-9D0E32025E69}" type="slidenum">
              <a:rPr lang="en-IN" smtClean="0"/>
              <a:t>4</a:t>
            </a:fld>
            <a:endParaRPr lang="en-IN" dirty="0"/>
          </a:p>
        </p:txBody>
      </p:sp>
      <p:sp>
        <p:nvSpPr>
          <p:cNvPr id="7" name="TextBox 6">
            <a:extLst>
              <a:ext uri="{FF2B5EF4-FFF2-40B4-BE49-F238E27FC236}">
                <a16:creationId xmlns:a16="http://schemas.microsoft.com/office/drawing/2014/main" id="{5C3D8067-7C8A-F87B-E515-A8FAEB68FF48}"/>
              </a:ext>
            </a:extLst>
          </p:cNvPr>
          <p:cNvSpPr txBox="1"/>
          <p:nvPr/>
        </p:nvSpPr>
        <p:spPr>
          <a:xfrm>
            <a:off x="240229" y="1000226"/>
            <a:ext cx="5526089" cy="2400657"/>
          </a:xfrm>
          <a:prstGeom prst="rect">
            <a:avLst/>
          </a:prstGeom>
          <a:noFill/>
        </p:spPr>
        <p:txBody>
          <a:bodyPr wrap="square">
            <a:spAutoFit/>
          </a:bodyPr>
          <a:lstStyle/>
          <a:p>
            <a:pPr>
              <a:buNone/>
            </a:pPr>
            <a:r>
              <a:rPr lang="en-IN" sz="1500" b="1" dirty="0"/>
              <a:t>Financial News Headlines Dataset (Kaggle)</a:t>
            </a:r>
          </a:p>
          <a:p>
            <a:pPr>
              <a:buNone/>
            </a:pPr>
            <a:endParaRPr lang="en-IN" sz="1500" dirty="0"/>
          </a:p>
          <a:p>
            <a:r>
              <a:rPr lang="en-IN" sz="1500" b="1" dirty="0"/>
              <a:t>Source:</a:t>
            </a:r>
            <a:r>
              <a:rPr lang="en-IN" sz="1500" dirty="0"/>
              <a:t> Kaggle – </a:t>
            </a:r>
            <a:r>
              <a:rPr lang="en-IN" sz="1500" i="1" dirty="0"/>
              <a:t>India Financial News Headlines Sentiments</a:t>
            </a:r>
            <a:endParaRPr lang="en-IN" sz="1500" dirty="0"/>
          </a:p>
          <a:p>
            <a:r>
              <a:rPr lang="en-IN" sz="1500" b="1" dirty="0"/>
              <a:t>Type:</a:t>
            </a:r>
            <a:r>
              <a:rPr lang="en-IN" sz="1500" dirty="0"/>
              <a:t> Unstructured text data</a:t>
            </a:r>
          </a:p>
          <a:p>
            <a:r>
              <a:rPr lang="en-IN" sz="1500" b="1" dirty="0"/>
              <a:t>Attributes:</a:t>
            </a:r>
            <a:r>
              <a:rPr lang="en-IN" sz="1500" dirty="0"/>
              <a:t> Title, Sentiment (Positive/Negative/Neutral), Confidence, Month, Year</a:t>
            </a:r>
          </a:p>
          <a:p>
            <a:r>
              <a:rPr lang="en-IN" sz="1500" b="1" dirty="0"/>
              <a:t>Purpose:</a:t>
            </a:r>
            <a:r>
              <a:rPr lang="en-IN" sz="1500" dirty="0"/>
              <a:t> Provides sentiment polarity of financial news influencing market </a:t>
            </a:r>
            <a:r>
              <a:rPr lang="en-IN" sz="1500" dirty="0" err="1"/>
              <a:t>behavior</a:t>
            </a:r>
            <a:r>
              <a:rPr lang="en-IN" sz="1500" dirty="0"/>
              <a:t>.</a:t>
            </a:r>
          </a:p>
          <a:p>
            <a:r>
              <a:rPr lang="en-IN" sz="1500" b="1" dirty="0" err="1"/>
              <a:t>Link:</a:t>
            </a:r>
            <a:r>
              <a:rPr lang="en-IN" sz="1500" dirty="0" err="1">
                <a:hlinkClick r:id="rId3"/>
              </a:rPr>
              <a:t>https</a:t>
            </a:r>
            <a:r>
              <a:rPr lang="en-IN" sz="1500" dirty="0">
                <a:hlinkClick r:id="rId3"/>
              </a:rPr>
              <a:t>://www.kaggle.com/datasets/harshrkh/india-financial-news-headlines-sentiments</a:t>
            </a:r>
            <a:r>
              <a:rPr lang="en-IN" sz="1500" dirty="0"/>
              <a:t> </a:t>
            </a:r>
            <a:endParaRPr lang="en-IN" sz="1500" b="1" dirty="0"/>
          </a:p>
        </p:txBody>
      </p:sp>
      <p:sp>
        <p:nvSpPr>
          <p:cNvPr id="8" name="TextBox 7">
            <a:extLst>
              <a:ext uri="{FF2B5EF4-FFF2-40B4-BE49-F238E27FC236}">
                <a16:creationId xmlns:a16="http://schemas.microsoft.com/office/drawing/2014/main" id="{59FCB755-707B-9164-52FB-A273FB6F331D}"/>
              </a:ext>
            </a:extLst>
          </p:cNvPr>
          <p:cNvSpPr txBox="1"/>
          <p:nvPr/>
        </p:nvSpPr>
        <p:spPr>
          <a:xfrm>
            <a:off x="6038462" y="1000226"/>
            <a:ext cx="5839407" cy="2431435"/>
          </a:xfrm>
          <a:prstGeom prst="rect">
            <a:avLst/>
          </a:prstGeom>
          <a:noFill/>
        </p:spPr>
        <p:txBody>
          <a:bodyPr wrap="square">
            <a:spAutoFit/>
          </a:bodyPr>
          <a:lstStyle/>
          <a:p>
            <a:r>
              <a:rPr lang="en-IN" sz="1500" b="1" dirty="0"/>
              <a:t>Capital Market Dataset (NSE)</a:t>
            </a:r>
          </a:p>
          <a:p>
            <a:endParaRPr lang="en-IN" sz="1500" dirty="0"/>
          </a:p>
          <a:p>
            <a:r>
              <a:rPr lang="en-IN" sz="1500" b="1" dirty="0"/>
              <a:t>Source:</a:t>
            </a:r>
            <a:r>
              <a:rPr lang="en-IN" sz="1500" dirty="0"/>
              <a:t> National Stock Exchange of India (Monthly Settlement Statistics)</a:t>
            </a:r>
          </a:p>
          <a:p>
            <a:r>
              <a:rPr lang="en-IN" sz="1500" b="1" dirty="0"/>
              <a:t>Type:</a:t>
            </a:r>
            <a:r>
              <a:rPr lang="en-IN" sz="1500" dirty="0"/>
              <a:t> Semi-Structured JSON data</a:t>
            </a:r>
          </a:p>
          <a:p>
            <a:r>
              <a:rPr lang="en-IN" sz="1500" b="1" dirty="0"/>
              <a:t>Attributes:</a:t>
            </a:r>
            <a:r>
              <a:rPr lang="en-IN" sz="1500" dirty="0"/>
              <a:t> Turnover (₹ Crores), Delivery Percentage, Trades, Short Delivery Values, Month, Year</a:t>
            </a:r>
          </a:p>
          <a:p>
            <a:r>
              <a:rPr lang="en-IN" sz="1500" b="1" dirty="0"/>
              <a:t>Purpose:</a:t>
            </a:r>
            <a:r>
              <a:rPr lang="en-IN" sz="1500" dirty="0"/>
              <a:t> Represents stock market trading performance and investor participation.</a:t>
            </a:r>
          </a:p>
          <a:p>
            <a:pPr>
              <a:buNone/>
            </a:pPr>
            <a:r>
              <a:rPr lang="en-IN" sz="1500" b="1" dirty="0"/>
              <a:t>Link: </a:t>
            </a:r>
            <a:r>
              <a:rPr lang="en-IN" sz="1600" dirty="0">
                <a:hlinkClick r:id="rId4"/>
              </a:rPr>
              <a:t>https://www.nseindia.com/report-detail/monthly-settlement-statistics</a:t>
            </a:r>
            <a:r>
              <a:rPr lang="en-IN" sz="1600" dirty="0"/>
              <a:t> </a:t>
            </a:r>
            <a:endParaRPr lang="en-IN" sz="1500" b="1" dirty="0"/>
          </a:p>
        </p:txBody>
      </p:sp>
      <p:sp>
        <p:nvSpPr>
          <p:cNvPr id="10" name="TextBox 9">
            <a:extLst>
              <a:ext uri="{FF2B5EF4-FFF2-40B4-BE49-F238E27FC236}">
                <a16:creationId xmlns:a16="http://schemas.microsoft.com/office/drawing/2014/main" id="{0165C710-F7D7-00BD-91A4-4453B15F0C36}"/>
              </a:ext>
            </a:extLst>
          </p:cNvPr>
          <p:cNvSpPr txBox="1"/>
          <p:nvPr/>
        </p:nvSpPr>
        <p:spPr>
          <a:xfrm>
            <a:off x="248241" y="3773588"/>
            <a:ext cx="5518077" cy="2200602"/>
          </a:xfrm>
          <a:prstGeom prst="rect">
            <a:avLst/>
          </a:prstGeom>
          <a:noFill/>
        </p:spPr>
        <p:txBody>
          <a:bodyPr wrap="square">
            <a:spAutoFit/>
          </a:bodyPr>
          <a:lstStyle/>
          <a:p>
            <a:r>
              <a:rPr lang="en-IN" sz="1500" b="1" dirty="0"/>
              <a:t>Futures and Options (F&amp;O) Dataset (NSE)</a:t>
            </a:r>
            <a:endParaRPr lang="en-IN" sz="1500" dirty="0"/>
          </a:p>
          <a:p>
            <a:r>
              <a:rPr lang="en-IN" sz="1500" b="1" dirty="0"/>
              <a:t>Source:</a:t>
            </a:r>
            <a:r>
              <a:rPr lang="en-IN" sz="1500" dirty="0"/>
              <a:t> National Stock Exchange of India</a:t>
            </a:r>
          </a:p>
          <a:p>
            <a:r>
              <a:rPr lang="en-IN" sz="1500" b="1" dirty="0"/>
              <a:t>Type:</a:t>
            </a:r>
            <a:r>
              <a:rPr lang="en-IN" sz="1500" dirty="0"/>
              <a:t> Semi-Structured JSON data</a:t>
            </a:r>
          </a:p>
          <a:p>
            <a:r>
              <a:rPr lang="en-IN" sz="1500" b="1" dirty="0"/>
              <a:t>Attributes:</a:t>
            </a:r>
            <a:r>
              <a:rPr lang="en-IN" sz="1500" dirty="0"/>
              <a:t> MTM (Mark-to-Market), Total Contracts, Premium, Exercises, Month, Year</a:t>
            </a:r>
          </a:p>
          <a:p>
            <a:r>
              <a:rPr lang="en-IN" sz="1500" b="1" dirty="0"/>
              <a:t>Purpose:</a:t>
            </a:r>
            <a:r>
              <a:rPr lang="en-IN" sz="1500" dirty="0"/>
              <a:t> Indicates derivative market trends and speculative trading activity.</a:t>
            </a:r>
          </a:p>
          <a:p>
            <a:pPr>
              <a:buNone/>
            </a:pPr>
            <a:r>
              <a:rPr lang="en-IN" sz="1500" dirty="0"/>
              <a:t>Link:</a:t>
            </a:r>
            <a:r>
              <a:rPr lang="en-IN" sz="1400" dirty="0">
                <a:hlinkClick r:id="rId4"/>
              </a:rPr>
              <a:t> https://www.nseindia.com/report-detail/monthly-settlement-statistics</a:t>
            </a:r>
            <a:r>
              <a:rPr lang="en-IN" sz="1400" dirty="0"/>
              <a:t>  </a:t>
            </a:r>
            <a:endParaRPr lang="en-IN" sz="1500" dirty="0"/>
          </a:p>
        </p:txBody>
      </p:sp>
      <p:sp>
        <p:nvSpPr>
          <p:cNvPr id="12" name="TextBox 11">
            <a:extLst>
              <a:ext uri="{FF2B5EF4-FFF2-40B4-BE49-F238E27FC236}">
                <a16:creationId xmlns:a16="http://schemas.microsoft.com/office/drawing/2014/main" id="{9FC6161A-A1E2-8B06-18D7-D28840322782}"/>
              </a:ext>
            </a:extLst>
          </p:cNvPr>
          <p:cNvSpPr txBox="1"/>
          <p:nvPr/>
        </p:nvSpPr>
        <p:spPr>
          <a:xfrm>
            <a:off x="6095999" y="3776243"/>
            <a:ext cx="5781870" cy="2231380"/>
          </a:xfrm>
          <a:prstGeom prst="rect">
            <a:avLst/>
          </a:prstGeom>
          <a:noFill/>
        </p:spPr>
        <p:txBody>
          <a:bodyPr wrap="square">
            <a:spAutoFit/>
          </a:bodyPr>
          <a:lstStyle/>
          <a:p>
            <a:r>
              <a:rPr lang="en-US" sz="1500" b="1" dirty="0"/>
              <a:t>Commodity Market Dataset (MCX)</a:t>
            </a:r>
            <a:endParaRPr lang="en-US" sz="1500" dirty="0"/>
          </a:p>
          <a:p>
            <a:r>
              <a:rPr lang="en-US" sz="1500" b="1" dirty="0"/>
              <a:t>Source:</a:t>
            </a:r>
            <a:r>
              <a:rPr lang="en-US" sz="1500" dirty="0"/>
              <a:t> Multi Commodity Exchange of India (Historical Data)</a:t>
            </a:r>
          </a:p>
          <a:p>
            <a:r>
              <a:rPr lang="en-US" sz="1500" b="1" dirty="0"/>
              <a:t>Type:</a:t>
            </a:r>
            <a:r>
              <a:rPr lang="en-US" sz="1500" dirty="0"/>
              <a:t> Structured numeric and categorical data</a:t>
            </a:r>
          </a:p>
          <a:p>
            <a:r>
              <a:rPr lang="en-US" sz="1500" b="1" dirty="0"/>
              <a:t>Attributes:</a:t>
            </a:r>
            <a:r>
              <a:rPr lang="en-US" sz="1500" dirty="0"/>
              <a:t> Segment, Commodity, Traded Contracts, Total Value (₹ Lacs), Average Daily Turnover, Month, Year</a:t>
            </a:r>
          </a:p>
          <a:p>
            <a:r>
              <a:rPr lang="en-US" sz="1500" b="1" dirty="0"/>
              <a:t>Purpose:</a:t>
            </a:r>
            <a:r>
              <a:rPr lang="en-US" sz="1500" dirty="0"/>
              <a:t> Reflects activity levels and value fluctuations in the Indian commodity market.</a:t>
            </a:r>
          </a:p>
          <a:p>
            <a:r>
              <a:rPr lang="en-US" sz="1500" b="1" dirty="0"/>
              <a:t>Link: </a:t>
            </a:r>
            <a:r>
              <a:rPr lang="en-IN" sz="1600" dirty="0">
                <a:hlinkClick r:id="rId5"/>
              </a:rPr>
              <a:t>https://www.mcxindia.com/market-data/historical-data</a:t>
            </a:r>
            <a:r>
              <a:rPr lang="en-IN" sz="1600" dirty="0"/>
              <a:t> </a:t>
            </a:r>
            <a:endParaRPr lang="en-US" sz="1500" b="1" dirty="0"/>
          </a:p>
          <a:p>
            <a:pPr>
              <a:buNone/>
            </a:pPr>
            <a:endParaRPr lang="en-IN" dirty="0"/>
          </a:p>
        </p:txBody>
      </p:sp>
    </p:spTree>
    <p:extLst>
      <p:ext uri="{BB962C8B-B14F-4D97-AF65-F5344CB8AC3E}">
        <p14:creationId xmlns:p14="http://schemas.microsoft.com/office/powerpoint/2010/main" val="1064566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2C18-A515-B782-7620-1F0DD3B3C3A8}"/>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99FFD08B-3D2F-8C99-AC14-1103EA01718A}"/>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D0D1DB39-F8A9-2752-44E3-49913825FE38}"/>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8430C48E-764B-E88C-E0DF-090CB537209D}"/>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A6BEFEB9-7681-4AD3-2752-EB0FC5AFF188}"/>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D415B9FF-F3F5-1BA7-2923-2748991F12B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5E57F440-143E-5D1A-D75A-A554D44EDD9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03D460BC-9C70-AAD4-B869-C5A9E2A04DD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CBEA1CF5-6C69-E015-F8FC-F3F36F8AEAE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DE5BF287-14BE-2278-5E19-20F33975AF5E}"/>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08B6534B-5E4F-CDC5-1AC6-9299AAD66717}"/>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5A1FAD1A-0C35-9B0C-04CF-C17BB4CF155E}"/>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6AB66D96-C31E-7891-CF57-F1D31D489D84}"/>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7A192F86-D208-6BF3-643E-F8A629E15AF5}"/>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A2D9B4DF-0A66-A011-6A09-A4F611F655A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D0E7C2F2-2049-3FA6-D8E7-42EFB973D612}"/>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A50E5254-E748-EFF6-8FC7-B03051E93E3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70163592-8BB6-AA41-3026-4F85E792073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A4830318-820F-4FC1-079F-426E5B49FE2D}"/>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9680A03A-1A8D-B641-6572-C80E2E0CAA6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1C0539DB-2147-C6B7-BF91-0E81AC1C2CF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63CE25B3-52CD-33F6-1E12-21AFB7ED748F}"/>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B0ED0CB8-85C3-EE95-7EBA-FB52DEB5E08E}"/>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640CE7D6-CA26-4056-CA2A-9CB67E7A717D}"/>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726BFE2B-519A-5A81-5676-423DFE0A455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D131CA06-4319-F370-7119-9EC4E0101FDC}"/>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FA49B6A8-9F95-4371-0032-63FE21B6FF7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B59A711F-C1A8-2078-269B-70B0734E3AC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2F67B140-FE66-3F56-C755-295FB687BFA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6FF3EBD3-C7B7-74BD-7A50-202EC8BB4F0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151C5D1E-44F6-9E32-948B-DBE102E51E30}"/>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8C7E495-FA83-043B-2FE5-46A69F805BB1}"/>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D67693A7-DA59-CEDC-580A-197418C4EEE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05256F05-8221-D7AC-3CD7-306AB35FDD5A}"/>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1E65C371-E3D3-D8DF-3447-ACFE3EF9618E}"/>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68E924F4-F47F-0C19-0D0E-5A342365DE8B}"/>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210A58E5-7196-C795-C358-A4018E0C288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4829F9FE-4A51-E25A-BC5E-47172F2AFFA0}"/>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79933229-7027-8BC5-5228-5A10C9DD262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3AECA070-2A9E-B76B-77D4-DFD58A20B461}"/>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37D5FEAE-B9E6-8DDC-946D-1064B3CEB85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ADB8686A-734E-BBC2-B533-62A36F33B68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0A3F1E9D-B47F-5BD7-AF1A-974E19304F45}"/>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CEC86FB2-09FC-293D-9BCC-CAF285FBE1E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5F0D9D25-67DC-6B72-592B-A13EF3E9D76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FC09FDC6-4BD5-E8CA-FA6F-5BCD76E9A5D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637600C1-812B-18FA-DF6B-BA51BE76AFB9}"/>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5DF4D1F-49E4-5952-9C07-81E4C57AC4A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6820041D-5FD4-193B-2B48-6CEAA482ACA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BEFC8D41-5E19-9E28-C2AB-2C5A73775BC0}"/>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DBF0C2DE-D1F9-3007-906F-6D950F82B523}"/>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6149C7BF-1B6C-538D-C845-15383AB74C7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249AA2E5-E569-E386-3ED8-8A4F3E91320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EDE319EA-7ECD-BD07-8C92-67D4F7989F63}"/>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E27C21F6-E68F-A4E5-20E6-3F721CA34825}"/>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7D3CF20E-EBDC-C662-3664-DED77DD132A5}"/>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05C7597D-B45B-2493-D74B-48B43431B09E}"/>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A1ED40FC-6592-C7E4-7845-83B74A54FE91}"/>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D58943C1-377B-81E6-F163-140F31AC796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4F012473-CCE2-663C-C852-206389FFEA5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BFDE3990-13FC-883B-7E77-CAD563484567}"/>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B475780E-1E4D-D0CC-D0A8-B71899A8E56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E00F85C1-0C02-B853-E381-B42594B359A5}"/>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07B1EF35-C577-1D11-076F-337CC2A7E6D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0B41409-BC4E-2E87-FE5C-9CD50167AE1E}"/>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7360B860-E565-2EFC-9F43-12B5E04BDFC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0A21B94B-AF89-6EDE-30D3-9EA79AE9B97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9A537F3B-BD30-5BD6-CD21-7DD8D380651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3A065D19-12EF-62C6-5070-D36BC30C4CCC}"/>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0C55324D-C739-B59D-DDBB-FB69DE3EE7F7}"/>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86ADCE86-5CED-7A19-E184-80B030D431B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C7348A94-DD36-AA85-4C42-94CAEE0D509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4607664E-5307-A89C-41D7-ED780075051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5748FE75-1B4A-A37F-E67A-FF1885871FF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872E06DD-3C7C-9D8C-241F-F82BBEB1E9B4}"/>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2049DFA6-9EE6-0024-CE68-15C0D30143B1}"/>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Automated ETL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9E37A80D-AF3C-F8CF-8114-560B568BDB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335E9B42-6CEA-DA36-A990-D7C54F1C4D50}"/>
              </a:ext>
            </a:extLst>
          </p:cNvPr>
          <p:cNvSpPr>
            <a:spLocks noGrp="1"/>
          </p:cNvSpPr>
          <p:nvPr>
            <p:ph type="sldNum" sz="quarter" idx="12"/>
          </p:nvPr>
        </p:nvSpPr>
        <p:spPr/>
        <p:txBody>
          <a:bodyPr/>
          <a:lstStyle/>
          <a:p>
            <a:fld id="{38A635C9-4A98-4745-BD96-9D0E32025E69}" type="slidenum">
              <a:rPr lang="en-IN" smtClean="0"/>
              <a:t>5</a:t>
            </a:fld>
            <a:endParaRPr lang="en-IN" dirty="0"/>
          </a:p>
        </p:txBody>
      </p:sp>
      <p:pic>
        <p:nvPicPr>
          <p:cNvPr id="9" name="Picture 8">
            <a:extLst>
              <a:ext uri="{FF2B5EF4-FFF2-40B4-BE49-F238E27FC236}">
                <a16:creationId xmlns:a16="http://schemas.microsoft.com/office/drawing/2014/main" id="{53C86DF4-3FF6-A550-E096-32EE0CBCC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4897" y="1327595"/>
            <a:ext cx="4220164" cy="3829584"/>
          </a:xfrm>
          <a:prstGeom prst="rect">
            <a:avLst/>
          </a:prstGeom>
        </p:spPr>
      </p:pic>
      <p:sp>
        <p:nvSpPr>
          <p:cNvPr id="10" name="TextBox 9">
            <a:extLst>
              <a:ext uri="{FF2B5EF4-FFF2-40B4-BE49-F238E27FC236}">
                <a16:creationId xmlns:a16="http://schemas.microsoft.com/office/drawing/2014/main" id="{19E2362F-AB56-1A2A-C172-4ADCD7086714}"/>
              </a:ext>
            </a:extLst>
          </p:cNvPr>
          <p:cNvSpPr txBox="1"/>
          <p:nvPr/>
        </p:nvSpPr>
        <p:spPr>
          <a:xfrm>
            <a:off x="8405453" y="5296875"/>
            <a:ext cx="3117646" cy="315471"/>
          </a:xfrm>
          <a:prstGeom prst="rect">
            <a:avLst/>
          </a:prstGeom>
          <a:noFill/>
        </p:spPr>
        <p:txBody>
          <a:bodyPr wrap="square" rtlCol="0">
            <a:spAutoFit/>
          </a:bodyPr>
          <a:lstStyle/>
          <a:p>
            <a:r>
              <a:rPr lang="en-US" sz="1450" dirty="0"/>
              <a:t>Fig : Automated ETL Process</a:t>
            </a:r>
            <a:endParaRPr lang="en-IN" sz="1450" dirty="0"/>
          </a:p>
        </p:txBody>
      </p:sp>
      <p:sp>
        <p:nvSpPr>
          <p:cNvPr id="12" name="TextBox 11">
            <a:extLst>
              <a:ext uri="{FF2B5EF4-FFF2-40B4-BE49-F238E27FC236}">
                <a16:creationId xmlns:a16="http://schemas.microsoft.com/office/drawing/2014/main" id="{E6B47897-78E1-C41A-EFEE-515221EFEFA0}"/>
              </a:ext>
            </a:extLst>
          </p:cNvPr>
          <p:cNvSpPr txBox="1"/>
          <p:nvPr/>
        </p:nvSpPr>
        <p:spPr>
          <a:xfrm>
            <a:off x="185459" y="847090"/>
            <a:ext cx="7146934" cy="5632311"/>
          </a:xfrm>
          <a:prstGeom prst="rect">
            <a:avLst/>
          </a:prstGeom>
          <a:noFill/>
        </p:spPr>
        <p:txBody>
          <a:bodyPr wrap="square">
            <a:spAutoFit/>
          </a:bodyPr>
          <a:lstStyle/>
          <a:p>
            <a:pPr>
              <a:buNone/>
            </a:pPr>
            <a:r>
              <a:rPr lang="en-US" sz="1450" b="1" dirty="0"/>
              <a:t>1. Extract Phase</a:t>
            </a:r>
          </a:p>
          <a:p>
            <a:r>
              <a:rPr lang="en-US" sz="1450" b="1" dirty="0"/>
              <a:t>Execute Process Task</a:t>
            </a:r>
            <a:r>
              <a:rPr lang="en-US" sz="1450" dirty="0"/>
              <a:t> components initiate Python or script-based data extraction. Data is fetched automatically from the three sources:</a:t>
            </a:r>
          </a:p>
          <a:p>
            <a:pPr marL="742950" lvl="1" indent="-285750">
              <a:buFont typeface="Arial" panose="020B0604020202020204" pitchFamily="34" charset="0"/>
              <a:buChar char="•"/>
            </a:pPr>
            <a:r>
              <a:rPr lang="en-US" sz="1450" dirty="0"/>
              <a:t>Kaggle (Financial News)</a:t>
            </a:r>
          </a:p>
          <a:p>
            <a:pPr marL="742950" lvl="1" indent="-285750">
              <a:buFont typeface="Arial" panose="020B0604020202020204" pitchFamily="34" charset="0"/>
              <a:buChar char="•"/>
            </a:pPr>
            <a:r>
              <a:rPr lang="en-US" sz="1450" dirty="0"/>
              <a:t>NSE Capital Market and NSE Futures &amp; Options</a:t>
            </a:r>
          </a:p>
          <a:p>
            <a:pPr marL="742950" lvl="1" indent="-285750">
              <a:buFont typeface="Arial" panose="020B0604020202020204" pitchFamily="34" charset="0"/>
              <a:buChar char="•"/>
            </a:pPr>
            <a:r>
              <a:rPr lang="en-US" sz="1450" dirty="0"/>
              <a:t>MCX Commodity Market</a:t>
            </a:r>
          </a:p>
          <a:p>
            <a:r>
              <a:rPr lang="en-US" sz="1450" dirty="0"/>
              <a:t>Extracted data files (CSV/Excel) are then goes for transformation.</a:t>
            </a:r>
          </a:p>
          <a:p>
            <a:pPr>
              <a:buNone/>
            </a:pPr>
            <a:endParaRPr lang="en-US" sz="1450" dirty="0"/>
          </a:p>
          <a:p>
            <a:pPr>
              <a:buNone/>
            </a:pPr>
            <a:r>
              <a:rPr lang="en-US" sz="1450" b="1" dirty="0"/>
              <a:t>2. Transform Phase (Data Cleaning and Integration)</a:t>
            </a:r>
          </a:p>
          <a:p>
            <a:r>
              <a:rPr lang="en-US" sz="1450" dirty="0"/>
              <a:t>Each </a:t>
            </a:r>
            <a:r>
              <a:rPr lang="en-US" sz="1450" b="1" dirty="0"/>
              <a:t>Data Flow Task</a:t>
            </a:r>
            <a:r>
              <a:rPr lang="en-US" sz="1450" dirty="0"/>
              <a:t> performs cleaning and transformation operations.</a:t>
            </a:r>
          </a:p>
          <a:p>
            <a:r>
              <a:rPr lang="en-US" sz="1450" dirty="0"/>
              <a:t>Key operations include:</a:t>
            </a:r>
          </a:p>
          <a:p>
            <a:pPr marL="742950" lvl="1" indent="-285750">
              <a:buFont typeface="Arial" panose="020B0604020202020204" pitchFamily="34" charset="0"/>
              <a:buChar char="•"/>
            </a:pPr>
            <a:r>
              <a:rPr lang="en-US" sz="1450" dirty="0"/>
              <a:t>Removing </a:t>
            </a:r>
            <a:r>
              <a:rPr lang="en-US" sz="1450" b="1" dirty="0"/>
              <a:t>duplicates</a:t>
            </a:r>
            <a:r>
              <a:rPr lang="en-US" sz="1450" dirty="0"/>
              <a:t> and </a:t>
            </a:r>
            <a:r>
              <a:rPr lang="en-US" sz="1450" b="1" dirty="0"/>
              <a:t>null values</a:t>
            </a:r>
            <a:r>
              <a:rPr lang="en-US" sz="1450" dirty="0"/>
              <a:t>.</a:t>
            </a:r>
          </a:p>
          <a:p>
            <a:pPr marL="742950" lvl="1" indent="-285750">
              <a:buFont typeface="Arial" panose="020B0604020202020204" pitchFamily="34" charset="0"/>
              <a:buChar char="•"/>
            </a:pPr>
            <a:r>
              <a:rPr lang="en-US" sz="1450" b="1" dirty="0"/>
              <a:t>Standardizing Month–Year</a:t>
            </a:r>
            <a:r>
              <a:rPr lang="en-US" sz="1450" dirty="0"/>
              <a:t> across all datasets.</a:t>
            </a:r>
          </a:p>
          <a:p>
            <a:pPr marL="742950" lvl="1" indent="-285750">
              <a:buFont typeface="Arial" panose="020B0604020202020204" pitchFamily="34" charset="0"/>
              <a:buChar char="•"/>
            </a:pPr>
            <a:r>
              <a:rPr lang="en-US" sz="1450" b="1" dirty="0"/>
              <a:t>Sentiment normalization</a:t>
            </a:r>
            <a:r>
              <a:rPr lang="en-US" sz="1450" dirty="0"/>
              <a:t> (Positive, Negative, Neutral) for news data.</a:t>
            </a:r>
            <a:br>
              <a:rPr lang="en-US" sz="1450" dirty="0"/>
            </a:br>
            <a:endParaRPr lang="en-US" sz="1450" dirty="0"/>
          </a:p>
          <a:p>
            <a:pPr>
              <a:buNone/>
            </a:pPr>
            <a:r>
              <a:rPr lang="en-US" sz="1450" b="1" dirty="0"/>
              <a:t>3. Load Phase</a:t>
            </a:r>
          </a:p>
          <a:p>
            <a:r>
              <a:rPr lang="en-US" sz="1450" dirty="0"/>
              <a:t>Cleaned and transformed data is then loaded into the  final SQL tables. Each Data Flow Task corresponds to one dataset being loaded:</a:t>
            </a:r>
          </a:p>
          <a:p>
            <a:pPr marL="742950" lvl="1" indent="-285750">
              <a:buFont typeface="Arial" panose="020B0604020202020204" pitchFamily="34" charset="0"/>
              <a:buChar char="•"/>
            </a:pPr>
            <a:r>
              <a:rPr lang="en-US" sz="1450" b="1" dirty="0"/>
              <a:t>Task:</a:t>
            </a:r>
            <a:r>
              <a:rPr lang="en-US" sz="1450" dirty="0"/>
              <a:t> Loads News data</a:t>
            </a:r>
          </a:p>
          <a:p>
            <a:pPr marL="742950" lvl="1" indent="-285750">
              <a:buFont typeface="Arial" panose="020B0604020202020204" pitchFamily="34" charset="0"/>
              <a:buChar char="•"/>
            </a:pPr>
            <a:r>
              <a:rPr lang="en-US" sz="1450" b="1" dirty="0"/>
              <a:t>Task 1:</a:t>
            </a:r>
            <a:r>
              <a:rPr lang="en-US" sz="1450" dirty="0"/>
              <a:t> Loads Capital Market data</a:t>
            </a:r>
          </a:p>
          <a:p>
            <a:pPr marL="742950" lvl="1" indent="-285750">
              <a:buFont typeface="Arial" panose="020B0604020202020204" pitchFamily="34" charset="0"/>
              <a:buChar char="•"/>
            </a:pPr>
            <a:r>
              <a:rPr lang="en-US" sz="1450" b="1" dirty="0"/>
              <a:t>Task 2:</a:t>
            </a:r>
            <a:r>
              <a:rPr lang="en-US" sz="1450" dirty="0"/>
              <a:t> Loads F&amp;O </a:t>
            </a:r>
          </a:p>
          <a:p>
            <a:pPr marL="742950" lvl="1" indent="-285750">
              <a:buFont typeface="Arial" panose="020B0604020202020204" pitchFamily="34" charset="0"/>
              <a:buChar char="•"/>
            </a:pPr>
            <a:r>
              <a:rPr lang="en-US" sz="1450" b="1" dirty="0"/>
              <a:t>Task 3: </a:t>
            </a:r>
            <a:r>
              <a:rPr lang="en-US" sz="1450" dirty="0"/>
              <a:t>Commodity data</a:t>
            </a:r>
          </a:p>
          <a:p>
            <a:r>
              <a:rPr lang="en-US" sz="1450" dirty="0"/>
              <a:t>The workflow ensures </a:t>
            </a:r>
            <a:r>
              <a:rPr lang="en-US" sz="1450" b="1" dirty="0"/>
              <a:t>automation and reusability</a:t>
            </a:r>
            <a:r>
              <a:rPr lang="en-US" sz="1450" dirty="0"/>
              <a:t>, allowing the ETL process to be </a:t>
            </a:r>
            <a:r>
              <a:rPr lang="en-US" sz="1450" b="1" dirty="0"/>
              <a:t>re-run</a:t>
            </a:r>
            <a:r>
              <a:rPr lang="en-US" sz="1450" dirty="0"/>
              <a:t> without duplication by truncating old records before reloading.</a:t>
            </a:r>
          </a:p>
        </p:txBody>
      </p:sp>
    </p:spTree>
    <p:extLst>
      <p:ext uri="{BB962C8B-B14F-4D97-AF65-F5344CB8AC3E}">
        <p14:creationId xmlns:p14="http://schemas.microsoft.com/office/powerpoint/2010/main" val="472561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FE8EA-7F81-B2E2-FA33-273F7ACCAE7B}"/>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C90E6452-0B87-1E8E-CA25-1AD7212FF410}"/>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F70199E4-05CD-13C3-552D-DD10C43FCDD1}"/>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7F8A1B50-8365-DBAB-370E-81E21DE9CE80}"/>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F1EB3530-2488-5C8B-8793-1FDFC544BD90}"/>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102A9A2E-298A-57D6-5EDF-A3620461014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06F80E4F-4E48-FAF5-F006-22CE4A9ADBB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1B526E7B-12FD-CC84-4C56-D8535B4E023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929A60F2-1061-1E6A-B37E-196C53DA557B}"/>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4660F769-722B-7CAD-8FEB-0F7AF7F8E3E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E74FCE76-E946-E089-6CA8-F5DAF4C73F25}"/>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5DCCA6A0-EB7C-0A3B-52C0-54C30D987F8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C5857BB4-4FAF-45E7-2E1B-62137AF22E6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FD14E25A-9F51-BBD6-A0EC-783E2E65038A}"/>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E116421B-692D-5257-05A1-2E63BA48652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B2EECFA8-808A-B046-CC58-96E0BEE07178}"/>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92860AA7-2918-36BA-98B3-CB3E0F05AB77}"/>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71E3FAB2-1CCE-F311-65DA-1AD2DFCE550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A7D5F88-F113-B1DC-09B9-BE260DF4CD47}"/>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DFB4CE69-7BA3-4D45-3438-C4D9B87B052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443B1C05-72F0-C4E4-0893-0B6BFCA55B4E}"/>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3DF4C74E-4C13-219C-D1B3-CC33A12A315D}"/>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0FDCC8A3-05A6-00A9-5C17-7F23B9BD3FC1}"/>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57FF0C30-05B8-9B25-D910-DD17F2E42C1E}"/>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F91B72BA-B75E-138E-1DB3-07BF1198F40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C6EA73DE-96C2-46EA-B437-6220C02D811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A7EAC329-179E-E730-C8EE-02D24C7335F3}"/>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BFEEB418-2CB7-4831-9A4B-6FC6EF64742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F4AD8A78-C39C-AB94-D5B0-18C0C2E4121D}"/>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1C6C1743-8332-C632-2A9B-48B0EC55269F}"/>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27DFA1BF-E094-11A6-F630-A150CC1D2FD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846E77CF-1732-CB01-D547-A21A315D691F}"/>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D3DC8336-B3FD-7FD9-9EAA-5FC0DBFD81D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58D5E1CD-8CEE-D7CC-30C5-43CDC7855A8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78F89DF5-DCA9-0DD0-6DC7-92B5C4CE14EE}"/>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F2004ACF-D5A9-0018-FE3B-863FE5DD824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2EB96356-6B36-0B8C-10A8-73615FF9BB6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F362E6A0-077C-8374-0192-56D6247A021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DD89237E-C7B4-E155-5999-29DA941574D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CDA89D91-F0D3-CD35-5CDD-773C93A96530}"/>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E8E11FFD-78E5-F1CA-C812-6A4A6AAB338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525828F0-76DE-681C-AF69-AE491059F0C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CB313546-3DA8-74F6-2247-F32C46EA361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201EA387-39E8-2A24-13CC-BCFD049FC2E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556A956E-D84A-5B1F-9B18-9E08265C388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A1D10930-C553-D594-5EF8-4ABE36D8E69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45E71022-4A6B-C5BA-DE30-C68E6C8F49ED}"/>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27EAA26-6E16-F082-6071-E77894C13B6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B9ABA71B-DB8A-5541-5E5E-D0F50C474FB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9BB27012-996D-856E-39ED-54C708AB6FD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2D2600C-E7FC-8039-346F-05C478AAEE1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C86D4793-2488-4F80-82E0-B0102DF043F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FF725470-C9C6-AB3B-1C8C-46ED1CB6914E}"/>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624C6BA0-872A-18A5-C0DD-2E472B6545E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F98F4494-AFAB-141E-1B94-9AC2EC7CD5B3}"/>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D1080416-9D89-AEE5-288C-F2DC4991953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5B428BBB-B114-92DF-254B-88B5FE777D18}"/>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F2E19EB2-B7B7-8645-AD85-385A811117B4}"/>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3C960838-0F74-0B54-AEC8-BE02A39F552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0879A91-B78C-A8C4-AA47-D1EFAAE0E0FB}"/>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4AE1D920-6910-E618-DDE3-4924E45F83B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88D81440-FCD6-E519-156B-988930538D3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DBDEB7F8-30B2-9B06-BDE1-5798D0A50165}"/>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75ED11F9-6726-4BBA-B0FD-860295264FE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E4837673-A7B8-E55B-3C60-BDEA77EF058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CA5AF2FA-AB21-C713-810D-16AAA91ED62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9DA45CB0-C272-5DC6-303E-F0265FE36D0B}"/>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478CF781-852E-9F6D-E5F1-4DE662F0FC7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0E7EB421-C94A-048C-6579-F7746A27F5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2715B308-4060-780D-78D9-DD87AAF189B1}"/>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7BE7536A-628E-8A1D-49B4-93EC9D0A37A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A9B7D7CE-F429-716D-136C-5AB55B72EA1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FF9088ED-5178-4371-7B23-401E9721CD4E}"/>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4CDCAC6A-F354-E987-E5D5-13C819E8AA1C}"/>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7CEC9077-4119-100C-EEEE-B239C3559B9E}"/>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9C268CAF-215F-0C62-83C9-1E4206D93314}"/>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SSIS To SSMS Data Flow</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8C5C4156-01E3-7BCB-A82B-2CF6B62AC6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21E53BF6-0F57-CBA2-3AFA-69569E81CBD8}"/>
              </a:ext>
            </a:extLst>
          </p:cNvPr>
          <p:cNvSpPr>
            <a:spLocks noGrp="1"/>
          </p:cNvSpPr>
          <p:nvPr>
            <p:ph type="sldNum" sz="quarter" idx="12"/>
          </p:nvPr>
        </p:nvSpPr>
        <p:spPr/>
        <p:txBody>
          <a:bodyPr/>
          <a:lstStyle/>
          <a:p>
            <a:fld id="{38A635C9-4A98-4745-BD96-9D0E32025E69}" type="slidenum">
              <a:rPr lang="en-IN" smtClean="0"/>
              <a:t>6</a:t>
            </a:fld>
            <a:endParaRPr lang="en-IN" dirty="0"/>
          </a:p>
        </p:txBody>
      </p:sp>
      <p:pic>
        <p:nvPicPr>
          <p:cNvPr id="15" name="Picture 14">
            <a:extLst>
              <a:ext uri="{FF2B5EF4-FFF2-40B4-BE49-F238E27FC236}">
                <a16:creationId xmlns:a16="http://schemas.microsoft.com/office/drawing/2014/main" id="{E90D9BB1-70FE-DEB6-A66A-497889344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4924" y="1325662"/>
            <a:ext cx="2089041" cy="1815566"/>
          </a:xfrm>
          <a:prstGeom prst="rect">
            <a:avLst/>
          </a:prstGeom>
        </p:spPr>
      </p:pic>
      <p:pic>
        <p:nvPicPr>
          <p:cNvPr id="17" name="Picture 16">
            <a:extLst>
              <a:ext uri="{FF2B5EF4-FFF2-40B4-BE49-F238E27FC236}">
                <a16:creationId xmlns:a16="http://schemas.microsoft.com/office/drawing/2014/main" id="{DEAB643C-BF8E-3BA8-7516-6AB593032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0919" y="1325662"/>
            <a:ext cx="2089041" cy="1815566"/>
          </a:xfrm>
          <a:prstGeom prst="rect">
            <a:avLst/>
          </a:prstGeom>
        </p:spPr>
      </p:pic>
      <p:pic>
        <p:nvPicPr>
          <p:cNvPr id="19" name="Picture 18">
            <a:extLst>
              <a:ext uri="{FF2B5EF4-FFF2-40B4-BE49-F238E27FC236}">
                <a16:creationId xmlns:a16="http://schemas.microsoft.com/office/drawing/2014/main" id="{CB9B9EB2-27D9-28E1-E0E5-CF7169FD49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58300" y="1325662"/>
            <a:ext cx="2089041" cy="1815566"/>
          </a:xfrm>
          <a:prstGeom prst="rect">
            <a:avLst/>
          </a:prstGeom>
        </p:spPr>
      </p:pic>
      <p:pic>
        <p:nvPicPr>
          <p:cNvPr id="21" name="Picture 20">
            <a:extLst>
              <a:ext uri="{FF2B5EF4-FFF2-40B4-BE49-F238E27FC236}">
                <a16:creationId xmlns:a16="http://schemas.microsoft.com/office/drawing/2014/main" id="{A98B6D37-4083-1973-D595-4515868E90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0278" y="1325662"/>
            <a:ext cx="2085045" cy="1815566"/>
          </a:xfrm>
          <a:prstGeom prst="rect">
            <a:avLst/>
          </a:prstGeom>
        </p:spPr>
      </p:pic>
      <p:sp>
        <p:nvSpPr>
          <p:cNvPr id="23" name="TextBox 22">
            <a:extLst>
              <a:ext uri="{FF2B5EF4-FFF2-40B4-BE49-F238E27FC236}">
                <a16:creationId xmlns:a16="http://schemas.microsoft.com/office/drawing/2014/main" id="{3D6DB114-6D02-969A-813B-9DC444EA36A9}"/>
              </a:ext>
            </a:extLst>
          </p:cNvPr>
          <p:cNvSpPr txBox="1"/>
          <p:nvPr/>
        </p:nvSpPr>
        <p:spPr>
          <a:xfrm>
            <a:off x="302104" y="3466819"/>
            <a:ext cx="11104801" cy="2862322"/>
          </a:xfrm>
          <a:prstGeom prst="rect">
            <a:avLst/>
          </a:prstGeom>
          <a:noFill/>
        </p:spPr>
        <p:txBody>
          <a:bodyPr wrap="square">
            <a:spAutoFit/>
          </a:bodyPr>
          <a:lstStyle/>
          <a:p>
            <a:pPr algn="just"/>
            <a:r>
              <a:rPr lang="en-US" dirty="0"/>
              <a:t>This data flow in SSIS establishes a direct connection between the </a:t>
            </a:r>
            <a:r>
              <a:rPr lang="en-US" b="1" dirty="0"/>
              <a:t>Flat File Source</a:t>
            </a:r>
            <a:r>
              <a:rPr lang="en-US" dirty="0"/>
              <a:t> (CSV dataset) and the </a:t>
            </a:r>
            <a:r>
              <a:rPr lang="en-US" b="1" dirty="0"/>
              <a:t>OLE DB Destination</a:t>
            </a:r>
            <a:r>
              <a:rPr lang="en-US" dirty="0"/>
              <a:t> in </a:t>
            </a:r>
            <a:r>
              <a:rPr lang="en-US" b="1" dirty="0"/>
              <a:t>SQL Server Management Studio (SSMS)</a:t>
            </a:r>
            <a:r>
              <a:rPr lang="en-US" dirty="0"/>
              <a:t>, enabling automated data transfer from external files into SQL tables. It ensures smooth and validated loading of cleaned financial data, such as news sentiments and market statistics, into the database, forming the final step of the ETL process for further data mining and analysis.</a:t>
            </a:r>
          </a:p>
          <a:p>
            <a:pPr algn="just"/>
            <a:endParaRPr lang="en-US" dirty="0"/>
          </a:p>
          <a:p>
            <a:pPr algn="just"/>
            <a:r>
              <a:rPr lang="en-US" dirty="0"/>
              <a:t>This connection ensures </a:t>
            </a:r>
            <a:r>
              <a:rPr lang="en-US" b="1" dirty="0"/>
              <a:t>seamless synchronization</a:t>
            </a:r>
            <a:r>
              <a:rPr lang="en-US" dirty="0"/>
              <a:t> between extracted datasets and the centralized data warehouse, maintaining data consistency and integrity across multiple sources. By automating the transfer through SSIS, the process eliminates manual intervention, reduces loading errors, and prepares integrated financial data for subsequent analytical operations such as pattern discovery, association rule mining, and performance visualization within SSMS or Power BI.</a:t>
            </a:r>
            <a:endParaRPr lang="en-IN" dirty="0"/>
          </a:p>
        </p:txBody>
      </p:sp>
    </p:spTree>
    <p:extLst>
      <p:ext uri="{BB962C8B-B14F-4D97-AF65-F5344CB8AC3E}">
        <p14:creationId xmlns:p14="http://schemas.microsoft.com/office/powerpoint/2010/main" val="3738878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CD20-C2FD-B9BA-03D5-828525B473E5}"/>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838AEADD-0EFE-6AD4-EC14-F674EBEEC546}"/>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6F54738B-D180-66D4-C7A5-3229F7791DA0}"/>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A429C77-F2E1-5B82-4266-F81C50CBB417}"/>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93DDE988-611C-D4E9-93DE-A20F8219E1C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EED3978B-2FD7-07EA-3325-E4D6A35DDA6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8699AF44-785B-0266-44C2-52877047012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619C12AA-D360-1EF4-6609-FA351C00F9C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5FF7FABC-F137-10D4-E8FC-5F0BE1C8148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8413D684-856C-0187-EBA3-B1F5A2F69CB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6BA989FA-6A7B-E1F7-7EC2-F2811BF6A2B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919CA28B-CEAF-CB5F-809E-40662C66A6BC}"/>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2CF75646-AEA3-4109-02FD-C781EFACA42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B3500143-B990-DC3D-2942-F29CFCA49581}"/>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20962A6B-0662-4A42-148B-184CEBD58B3A}"/>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FE17970F-6B2A-7D89-E470-3338E5F1E4F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7AAC4FD-B9A7-9EF6-739C-CA340E385F19}"/>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2E83C3C6-E200-6E94-BB60-D2A25D9CDF6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0ABCC94B-6F52-8E7B-7F96-A50AA06BCD45}"/>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61085F05-3E0F-29BE-C7DB-F7D4CDC865C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376AB07C-9323-6875-BAC1-AD81FA858C8D}"/>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25D7C9E8-1973-5BE9-3D01-C254E3887AA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698BE967-B217-0992-8703-6C87FE0602C7}"/>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9B16A4F8-CB45-AAC1-104D-D537EE1EC7B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5B135A56-58FA-5B88-F386-7B4F9424DB6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4103F2E5-7AEB-4E70-962E-A79D907B016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CBBBCF24-FCE2-978E-2894-912D3BEAC8B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4FEE76BF-8E6F-902E-0DC6-3345B163236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5934AAC4-5010-6EBE-8AC9-58E684882B75}"/>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1C8648F-F8B9-A645-F65F-3984761131C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1F191A3-31FC-D098-68BD-0F63ADF4B69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1D274486-4030-BFE8-463A-CB19835A0C2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FA5A5A8-067F-CB1E-49B6-898842636B1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AD4DF7FF-D25F-876E-E47F-1AFEDBC9356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05766DF1-9A03-81BA-3714-34B8A149D71A}"/>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82B8276A-A3AE-7171-F76C-8123D380EF4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62C7765E-6DE8-B76F-B52A-8C30CA9F47A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78C78EAE-9E76-E512-60A1-BA870C7D3A7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0198DB27-A936-EA6B-E675-A275BA67EEAD}"/>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9009D59-4E55-34F1-E244-1F6A9DECF56C}"/>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67A4F8FF-8003-0DD1-1E8C-0F05D606A708}"/>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B917DED0-0F5C-59BE-16B6-0975F8D203F5}"/>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2DE18304-1564-2CA0-9697-A5B621204A49}"/>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6A08C443-3FA5-D561-8683-46985DB0BD3A}"/>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AF7BC03B-CF13-C612-1892-4A79B15D9AC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3F1BF24A-B476-CDFD-2437-2239C340B99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A528D0C5-46A2-E0B4-1F98-8AA3792C0DEB}"/>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F3804F9B-1D65-6F82-FD17-8878CCB4AB81}"/>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F9D83E6E-E4ED-FDF6-D1F1-204662A2538C}"/>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B5690D74-52FA-FD5F-EFF1-BB14FFFFEAA4}"/>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D6FF7997-356C-DD4A-01C7-471D797B0A0B}"/>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3DD0587D-F9F8-25EF-633F-3B0CEEE71DE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42B40EB0-56FB-32DF-37B4-D3BEF8F1248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14E4039C-C1C3-894C-CE06-2E733E4A117C}"/>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00AC38DC-9C57-55D4-7340-8BB0F11643A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DAD74517-E59B-CCC7-C5E4-0B37C76ECA9E}"/>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15531F91-EE89-489D-42D7-7303573DA69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2504ED56-D006-2931-6F44-9477AEFD1881}"/>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0F979A41-9A03-9A04-C5C8-B9F5D81BC61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D761124F-4F9F-D8F9-AFB3-DFF9A4DFD591}"/>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7B333EA9-DEBA-2285-82AC-3DBE1E465E7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E8D03539-90F2-8F96-BDB6-0A87E80F91E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196C7934-E161-191D-A277-48165D95AAAE}"/>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262C469A-5FB5-3280-5185-FF64E1240AB6}"/>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A2B292DD-FAD8-E3C8-BDD5-5F05B07521F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2B53B2A5-5E2A-DE04-57A9-C9EB7261728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0734BB66-2A27-5B20-0B41-5F258A6F4CC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13813058-BD26-F9B0-CC89-F9FD22DACE23}"/>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BEB4AA93-4755-3C9B-EECF-57F75B239E0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75E0EB1B-300B-04F2-769A-A765B8B66A26}"/>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52109C40-ED9B-DC16-8D3A-C4B910B349F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A0C06356-B738-C8AF-F661-284519981DE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9DC5A123-8C29-13EF-1355-9F771FA3344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D5C59168-DD48-E605-D9C9-574469CC4710}"/>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9D98D485-69E8-C552-43D9-6BD0BB858A3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B66B4785-CBDA-A9FA-6E33-8F571E6020FA}"/>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SSMS Data View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9F38864A-C8C4-DD3D-2ABC-18B5B7D16D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1D6A7DE6-5E4A-9FB9-5DE1-85231B265C56}"/>
              </a:ext>
            </a:extLst>
          </p:cNvPr>
          <p:cNvSpPr>
            <a:spLocks noGrp="1"/>
          </p:cNvSpPr>
          <p:nvPr>
            <p:ph type="sldNum" sz="quarter" idx="12"/>
          </p:nvPr>
        </p:nvSpPr>
        <p:spPr/>
        <p:txBody>
          <a:bodyPr/>
          <a:lstStyle/>
          <a:p>
            <a:fld id="{38A635C9-4A98-4745-BD96-9D0E32025E69}" type="slidenum">
              <a:rPr lang="en-IN" smtClean="0"/>
              <a:t>7</a:t>
            </a:fld>
            <a:endParaRPr lang="en-IN" dirty="0"/>
          </a:p>
        </p:txBody>
      </p:sp>
      <p:pic>
        <p:nvPicPr>
          <p:cNvPr id="6" name="Picture 5">
            <a:extLst>
              <a:ext uri="{FF2B5EF4-FFF2-40B4-BE49-F238E27FC236}">
                <a16:creationId xmlns:a16="http://schemas.microsoft.com/office/drawing/2014/main" id="{444750EC-F55B-833A-4DBD-10CFF20F5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191" y="900363"/>
            <a:ext cx="3754246" cy="5057274"/>
          </a:xfrm>
          <a:prstGeom prst="rect">
            <a:avLst/>
          </a:prstGeom>
        </p:spPr>
      </p:pic>
      <p:pic>
        <p:nvPicPr>
          <p:cNvPr id="8" name="Picture 7">
            <a:extLst>
              <a:ext uri="{FF2B5EF4-FFF2-40B4-BE49-F238E27FC236}">
                <a16:creationId xmlns:a16="http://schemas.microsoft.com/office/drawing/2014/main" id="{C0BE3C85-CE53-F742-5BF0-9CF5A1EE2D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7680" y="900363"/>
            <a:ext cx="5697145" cy="5057274"/>
          </a:xfrm>
          <a:prstGeom prst="rect">
            <a:avLst/>
          </a:prstGeom>
        </p:spPr>
      </p:pic>
    </p:spTree>
    <p:extLst>
      <p:ext uri="{BB962C8B-B14F-4D97-AF65-F5344CB8AC3E}">
        <p14:creationId xmlns:p14="http://schemas.microsoft.com/office/powerpoint/2010/main" val="101921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745BA-2780-43E4-F317-BDC15E3D2353}"/>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690A696F-9F96-D049-ACEB-2858A5D883E6}"/>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ED5B01FB-92C1-0FC7-4D4D-684F9098D549}"/>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109C4BB6-D2BB-10A4-F1A8-31B2FDC0D13F}"/>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95BE46A9-8EC3-D419-0534-7D085954276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096C1160-84CD-5DDC-E3B2-820027CB161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9F7DE15D-C1CB-99D4-3B5B-2D07B0C586E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B706D127-B255-6AEC-2F2B-18E8E6F016C2}"/>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8F295A23-3162-0E0C-31D8-BF7C30A24C82}"/>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570C94AC-4BE3-923A-8045-BA37AFC5EB2E}"/>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F3F8F4C1-4B44-3765-2DE7-7210F41BED1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B02473B0-6469-604A-33B0-F8902837C64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90392D3D-AD6D-D47C-18D8-22DA62E6133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0F54BA54-8795-ECD9-BCDE-708A318214E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CDD270D7-9CE7-65CD-323E-46314AE10482}"/>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4E772DAE-AC56-1543-95CD-DFEB6BCFEAD5}"/>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FDD7F487-1C24-4125-0F94-823250C2924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F06532A1-F9EE-C0BD-ECBD-1ED3A96E137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B523978B-4035-A812-64A8-F8C86D42C20E}"/>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C3A35796-1DC1-9274-F927-2507E6F3583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83AD1735-45D2-D93B-C29E-E729522A7E6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F8D1496A-8A13-6640-F959-C8EEECF54145}"/>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931617CB-C1E1-ED53-1076-ECFB32107661}"/>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4DBE6157-3DD1-1F26-5069-13C565C97003}"/>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CF623E34-878E-D3C8-B856-27F5BDA45EC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63BEB293-29D9-DE10-B2E4-37CAFE10564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DFD27AA9-BE12-5EEF-321C-DB1D3B75E64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1D2EB7A2-5327-6EA6-B754-7C18970AD19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7B0AAD1A-5477-A12F-082A-FAAC13C7D21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E82F5D1B-DDCA-B0B5-A3EF-04B38398F4E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3CEF8A17-4BB3-4EBF-6938-6A8B9056B03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95D9E5C-C9D0-A22D-43E8-122578B94C08}"/>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29332D72-448A-1187-52D3-D93B7741F7C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C8044F2C-D823-FD61-DEDD-A155C0054BA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C82E264-9CE9-D2FB-9C02-A7AF7CC9910A}"/>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A4B963A2-A48A-2CDC-CC7C-1889E1E497D2}"/>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2716F53-5348-EDD5-69EB-E031ABB38CBB}"/>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9AC19762-4F1B-3282-3416-E8CDD4ADF20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7B9356AE-6D3F-6CDC-937A-D4BB3E9FC6C0}"/>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5084A64C-B5AD-53D5-21EE-057205BB094E}"/>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FF524303-07EF-1E51-B3FF-76127A5CFF5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7EBB83FD-AB80-88EC-BB26-FDB894918135}"/>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2EACE68E-7F9B-44C4-F3FD-521CCAE234C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868ED97C-3EA1-ACF2-2A7B-B5FA88C33730}"/>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982B2270-25B7-228A-9961-8942A5428C2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ABEA6A67-5970-A6A6-F13A-9593785982E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25CD9318-7620-9E6C-ED0E-A9B4DB18AB00}"/>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5365E8BE-7E31-4F38-1B26-B7881859223D}"/>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E0441850-5E7E-0717-B8E2-5DD80ABCAF7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9FB806C4-F6AB-F05F-A6E4-859AD747BF3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C244A937-A3DF-F515-A108-B8AEF64650A2}"/>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DB85ED60-8125-1A93-8D98-A10C794FCA7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85471F77-59ED-4553-EBCE-DA8CE1BB827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10F7B8F2-0173-FB81-DA0B-C238D36FBF1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347C75C2-C528-47C0-A44C-ED56748CD1F7}"/>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C93B4F1F-09C6-F401-A3AB-11C763C9D74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5708982E-F7E1-11B9-DD60-4C50D1C12D2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2A722F36-6089-C54B-44D9-DE595A9813DE}"/>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B45635D0-6393-F411-1722-628BA8045B97}"/>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C1E8FE33-051B-D3F9-F8DD-5D1235B2A02C}"/>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4E927DA1-F7F4-AB60-AAEA-82715757D4E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58179B4F-16AE-2C72-4BFA-A2C98277FD8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99C3B163-72E7-7E4B-1CA9-42CA4CA95695}"/>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38D79C29-8576-7D5F-FA72-61B29C466EB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2BA2A01-629F-068E-5DAA-BFC8FCC6AE63}"/>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C5936AE2-A14F-BC94-9BDD-481C73E7E52F}"/>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E150FC12-AC24-A629-EB49-B8E677E4099D}"/>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976A4395-56BD-1C79-91DD-883FB73E4B9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AC33317F-27AD-C74F-555B-4B545D149CEE}"/>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41DAD99E-2739-BB99-8BC4-E4AF81A71D9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766C3BF1-A44D-6DDB-4864-84F6CD93AB72}"/>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8DB32105-E1CC-5A40-EC4C-049658334D2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2018C471-B0F3-CC68-E88A-15BFABCBB90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B1CBCDC4-4F2F-97A8-20FC-7AF0529C51A6}"/>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C9046378-F56F-2C73-C7C9-820AA0A3C1C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40A0F3E9-3D97-74A1-3E5D-271BA9831C28}"/>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SSMS Data View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69554F84-E9B7-9A64-68AE-B1C929ACAB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4A1F79BA-929C-BC3F-D6D9-84D545AC4260}"/>
              </a:ext>
            </a:extLst>
          </p:cNvPr>
          <p:cNvSpPr>
            <a:spLocks noGrp="1"/>
          </p:cNvSpPr>
          <p:nvPr>
            <p:ph type="sldNum" sz="quarter" idx="12"/>
          </p:nvPr>
        </p:nvSpPr>
        <p:spPr/>
        <p:txBody>
          <a:bodyPr/>
          <a:lstStyle/>
          <a:p>
            <a:fld id="{38A635C9-4A98-4745-BD96-9D0E32025E69}" type="slidenum">
              <a:rPr lang="en-IN" smtClean="0"/>
              <a:t>8</a:t>
            </a:fld>
            <a:endParaRPr lang="en-IN" dirty="0"/>
          </a:p>
        </p:txBody>
      </p:sp>
      <p:pic>
        <p:nvPicPr>
          <p:cNvPr id="8" name="Picture 7">
            <a:extLst>
              <a:ext uri="{FF2B5EF4-FFF2-40B4-BE49-F238E27FC236}">
                <a16:creationId xmlns:a16="http://schemas.microsoft.com/office/drawing/2014/main" id="{A99C32F8-D116-2156-C8FE-CFF3B36AE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982" y="949740"/>
            <a:ext cx="4416242" cy="4657957"/>
          </a:xfrm>
          <a:prstGeom prst="rect">
            <a:avLst/>
          </a:prstGeom>
        </p:spPr>
      </p:pic>
      <p:pic>
        <p:nvPicPr>
          <p:cNvPr id="14" name="Picture 13">
            <a:extLst>
              <a:ext uri="{FF2B5EF4-FFF2-40B4-BE49-F238E27FC236}">
                <a16:creationId xmlns:a16="http://schemas.microsoft.com/office/drawing/2014/main" id="{843BA895-C037-7793-F28F-CD3BAB943D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7966" y="949741"/>
            <a:ext cx="4746173" cy="4958517"/>
          </a:xfrm>
          <a:prstGeom prst="rect">
            <a:avLst/>
          </a:prstGeom>
        </p:spPr>
      </p:pic>
      <p:pic>
        <p:nvPicPr>
          <p:cNvPr id="6" name="Picture 5">
            <a:extLst>
              <a:ext uri="{FF2B5EF4-FFF2-40B4-BE49-F238E27FC236}">
                <a16:creationId xmlns:a16="http://schemas.microsoft.com/office/drawing/2014/main" id="{EDB9A315-8165-7E64-E65F-5C09A6D3ACEE}"/>
              </a:ext>
            </a:extLst>
          </p:cNvPr>
          <p:cNvPicPr>
            <a:picLocks noChangeAspect="1"/>
          </p:cNvPicPr>
          <p:nvPr/>
        </p:nvPicPr>
        <p:blipFill>
          <a:blip r:embed="rId5"/>
          <a:stretch>
            <a:fillRect/>
          </a:stretch>
        </p:blipFill>
        <p:spPr>
          <a:xfrm>
            <a:off x="528982" y="5607697"/>
            <a:ext cx="4416242" cy="112258"/>
          </a:xfrm>
          <a:prstGeom prst="rect">
            <a:avLst/>
          </a:prstGeom>
        </p:spPr>
      </p:pic>
    </p:spTree>
    <p:extLst>
      <p:ext uri="{BB962C8B-B14F-4D97-AF65-F5344CB8AC3E}">
        <p14:creationId xmlns:p14="http://schemas.microsoft.com/office/powerpoint/2010/main" val="930992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7BC0F-C4BE-18FC-6248-4A4C64A39B34}"/>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5217B74-99AC-40F4-ED40-DF22F3882FD2}"/>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C9F9F911-1C3D-9A1E-585F-84D27C07E7FE}"/>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D23A5FAD-5027-1E87-2A2F-66FA111AFE49}"/>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DC4078C5-8AB4-DCF3-7810-53FC48848969}"/>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8327F2D5-4FE1-A140-8429-4A5812D190A1}"/>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1131F0A3-BA54-9EFC-0665-384EF2EF4189}"/>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F2738A5D-EAED-BBBE-DEBF-A8381156405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26AC35DF-2B72-3F9F-1F68-48054B5E8AC2}"/>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43459D79-7F8E-D2B0-B898-0935389FCFF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239A41FE-B665-926B-2EE9-6820B1AA1C33}"/>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92D482B8-7887-4580-6EA7-CC18A351468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8A8EFC95-6A8E-08E7-EE93-280FB137FD5A}"/>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43048BB6-9691-FB1A-4113-2346CAF699E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5C03C40B-73A4-2C81-104B-F41EB06D18B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9F241A90-F957-F717-B201-83057332F7F5}"/>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D19B782D-9B3D-7A7A-27B4-88E58F5322B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CE4E60F5-B5E3-D037-490A-1712FEE720C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5D98C819-C23C-4DCC-35C4-CB745EFD038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C212133E-CFD4-00BF-B318-79D8DEDACF3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8EB9ABF6-C27B-A2CA-067F-7E58C366B56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D6F38919-A495-D05A-F889-86DB937B1F71}"/>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78ED9E8E-2F69-36C0-F954-CCDB568A605C}"/>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25A4B237-7900-3528-2DEA-6ACA0FAB5EF1}"/>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2894B001-54AC-FBD6-2FE6-A4BF73AF0380}"/>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F9F90CDD-B7B5-3C8F-5687-4BA6648868D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7B174B52-262A-916C-A7FA-B382BE8BB63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CFC1039B-E290-EC9F-446B-14EF926E31E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BE6CB905-F537-72BB-BEDA-EC937B9A0474}"/>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6F2A537-7E6F-FFCD-4153-F684D00164BF}"/>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14F3EBBB-93F7-5A1E-420D-400BED734C7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4C899A3-52A6-2B3E-6BC5-9909175E8459}"/>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EC16FF98-F7F4-FF91-792E-D652299DA99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469DFB4B-4C28-4B4D-5EFF-1B15D3496F37}"/>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F08AEE8B-3E38-A924-6C7C-A82AEDC182C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F7E76329-9E5C-9C9C-373F-9A555B101215}"/>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F0E6E714-3C0C-1962-2E74-BB9095C32AF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829D00DD-95FB-F17C-DB7D-336548072B3D}"/>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F64CA9CC-3251-512C-95F4-13FA0A27C03D}"/>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87980622-8273-952A-F35D-D8AEBB1DD408}"/>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3CA662E0-C72C-4E13-DFCB-06417501E13C}"/>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11D1F014-14FB-450F-CDB7-B11D88784C0E}"/>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3568D4DD-D0E2-C631-1348-08950AF5200F}"/>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AF1E8A20-32F1-399B-81EB-CF3980A8797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7B58599C-3FB4-F925-B83E-428AF99C6E0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75808806-3653-48AE-C904-59D5B0A780DF}"/>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965941BE-2199-A65F-D40F-AA83B781196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40995B1D-589C-E265-D068-A544E14824A1}"/>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CA2A5E1D-78A7-4FAB-D1CF-4A320BAA7005}"/>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8642EA88-6CE7-7AA5-D55E-CFFBCFC493B6}"/>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9F283585-B400-BE52-D6FD-0C06528A8B2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8955E889-BEEB-C9A2-AA0B-4F9564483662}"/>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4DA8CA71-0AFA-BAD5-CB19-9BD5F0E79BD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FC5EB2C-3DA2-596B-F90C-7485955A752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A64D46C9-AFF5-BB1B-341B-AD2889435DD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A2626DFC-13B8-FAB9-5A8F-5DE2C87D185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8D59BE24-3A1C-0713-CCC9-2086D3D6F6A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BAD04713-1CC2-CB36-0CD7-DBD2964CD99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8A6995BB-CA5F-32A9-DAF2-23A1C40D1C1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A906C15A-66CB-6FEB-CDA8-3AF5C06FCA5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68FD3FF7-4179-ADE0-E39B-7902F5D22A9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AA77F187-1C74-B61E-17A3-73EFB0C81EB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AFF71157-72E0-5838-10AC-790FF64C5A1F}"/>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5FF8870B-1590-CE5C-73A6-00B5667D21B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83DA81C1-68C5-6433-5745-03D61C22A8B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9BEDEEB8-013C-A32C-6917-B87D690F70B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5DFBBED4-3165-BEAA-6F27-030C745920D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2098D641-91B9-5D51-5AE2-B63827CAD87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08C27E78-1928-870D-8213-5C3B804BB50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A8E13F24-DF5F-DA30-8459-A6377FF6268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EC575A0F-D4A1-2D8D-DE8F-15C8101F274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6F65E590-BCFC-FA9F-F41A-A9EE9539FFCA}"/>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F4E61B79-3B02-96C6-1A39-C7BCFBC7281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28186D80-0F96-77B4-EADE-3A4FB685F89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E6EC9585-72D3-AFF4-98C8-F49176352FA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FC5C6D82-B5BB-428D-55DF-A842A59CA5C6}"/>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Cube Deployment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0B91BCAD-81CF-E0F6-DDD9-4FFB03A44C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D87755B2-DEDE-BD7F-182D-F40F951A2799}"/>
              </a:ext>
            </a:extLst>
          </p:cNvPr>
          <p:cNvSpPr>
            <a:spLocks noGrp="1"/>
          </p:cNvSpPr>
          <p:nvPr>
            <p:ph type="sldNum" sz="quarter" idx="12"/>
          </p:nvPr>
        </p:nvSpPr>
        <p:spPr/>
        <p:txBody>
          <a:bodyPr/>
          <a:lstStyle/>
          <a:p>
            <a:fld id="{38A635C9-4A98-4745-BD96-9D0E32025E69}" type="slidenum">
              <a:rPr lang="en-IN" smtClean="0"/>
              <a:t>9</a:t>
            </a:fld>
            <a:endParaRPr lang="en-IN" dirty="0"/>
          </a:p>
        </p:txBody>
      </p:sp>
      <p:sp>
        <p:nvSpPr>
          <p:cNvPr id="10" name="TextBox 9">
            <a:extLst>
              <a:ext uri="{FF2B5EF4-FFF2-40B4-BE49-F238E27FC236}">
                <a16:creationId xmlns:a16="http://schemas.microsoft.com/office/drawing/2014/main" id="{BFEA5AEF-FB4C-F9A1-FEDE-601618378001}"/>
              </a:ext>
            </a:extLst>
          </p:cNvPr>
          <p:cNvSpPr txBox="1"/>
          <p:nvPr/>
        </p:nvSpPr>
        <p:spPr>
          <a:xfrm>
            <a:off x="8145670" y="5324348"/>
            <a:ext cx="3117646" cy="369332"/>
          </a:xfrm>
          <a:prstGeom prst="rect">
            <a:avLst/>
          </a:prstGeom>
          <a:noFill/>
        </p:spPr>
        <p:txBody>
          <a:bodyPr wrap="square" rtlCol="0">
            <a:spAutoFit/>
          </a:bodyPr>
          <a:lstStyle/>
          <a:p>
            <a:r>
              <a:rPr lang="en-US" dirty="0"/>
              <a:t>Fig : Dimension and Fact Table</a:t>
            </a:r>
            <a:endParaRPr lang="en-IN" dirty="0"/>
          </a:p>
        </p:txBody>
      </p:sp>
      <p:pic>
        <p:nvPicPr>
          <p:cNvPr id="6" name="Picture 5">
            <a:extLst>
              <a:ext uri="{FF2B5EF4-FFF2-40B4-BE49-F238E27FC236}">
                <a16:creationId xmlns:a16="http://schemas.microsoft.com/office/drawing/2014/main" id="{B97271BF-0A6D-D9A1-95CD-6D2559DB1F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619" y="1164320"/>
            <a:ext cx="4381749" cy="3799565"/>
          </a:xfrm>
          <a:prstGeom prst="rect">
            <a:avLst/>
          </a:prstGeom>
        </p:spPr>
      </p:pic>
      <p:sp>
        <p:nvSpPr>
          <p:cNvPr id="8" name="TextBox 7">
            <a:extLst>
              <a:ext uri="{FF2B5EF4-FFF2-40B4-BE49-F238E27FC236}">
                <a16:creationId xmlns:a16="http://schemas.microsoft.com/office/drawing/2014/main" id="{E16D55F2-44A2-B41A-AE3E-E37E6F252DC9}"/>
              </a:ext>
            </a:extLst>
          </p:cNvPr>
          <p:cNvSpPr txBox="1"/>
          <p:nvPr/>
        </p:nvSpPr>
        <p:spPr>
          <a:xfrm>
            <a:off x="248241" y="1252150"/>
            <a:ext cx="6639799" cy="4524315"/>
          </a:xfrm>
          <a:prstGeom prst="rect">
            <a:avLst/>
          </a:prstGeom>
          <a:noFill/>
        </p:spPr>
        <p:txBody>
          <a:bodyPr wrap="square">
            <a:spAutoFit/>
          </a:bodyPr>
          <a:lstStyle/>
          <a:p>
            <a:pPr algn="just">
              <a:buNone/>
            </a:pPr>
            <a:r>
              <a:rPr lang="en-US" dirty="0"/>
              <a:t>The cube deployment process is carried out using SQL Server Analysis Services (SSAS), which enables multidimensional analysis. The star schema, consisting of a central Fact table and multiple Dimension tables, serves as the foundation for building the OLAP cube. In SSAS, dimensions Sentiment, Capital Market, Futures &amp; Options, and Commodity are processed to define hierarchies and relationships. The Fact table acts as the measurable component, storing key metrics like turnover and market performance.</a:t>
            </a:r>
          </a:p>
          <a:p>
            <a:pPr algn="just">
              <a:buNone/>
            </a:pPr>
            <a:r>
              <a:rPr lang="en-US" dirty="0"/>
              <a:t> </a:t>
            </a:r>
          </a:p>
          <a:p>
            <a:pPr algn="just">
              <a:buNone/>
            </a:pPr>
            <a:r>
              <a:rPr lang="en-US" dirty="0"/>
              <a:t>This structured cube allows to perform complex queries, drill-downs, and aggregations seamlessly, facilitating faster and deeper financial insights. Once the cube is designed in SSAS, it is deployed and processed through SQL Server Management Studio (SSMS), ensuring integration with the existing PROJECT database. SSMS enables verification of relationships, measure groups, and data integrity within the cube. </a:t>
            </a:r>
          </a:p>
        </p:txBody>
      </p:sp>
    </p:spTree>
    <p:extLst>
      <p:ext uri="{BB962C8B-B14F-4D97-AF65-F5344CB8AC3E}">
        <p14:creationId xmlns:p14="http://schemas.microsoft.com/office/powerpoint/2010/main" val="3557445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929A-DA6A-C7B4-C786-6798D6F5192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D95A23CB-FB3D-5A99-7667-E674702C7D8D}"/>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50CE2704-FC11-4F1E-1DF9-45A73596BD18}"/>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9417AE3A-F21D-9812-FC4C-15CB77088419}"/>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7A4B1DB4-760E-7E0B-73E2-5CD0C1E0243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1B795488-7815-7370-92A9-CEA6DB678F4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987DB5D7-5491-0613-4282-6AA57EE94755}"/>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47909880-AFF9-67D7-31A2-7B600C9E3A0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1EDD0E70-C543-C362-964F-C4EC4FF2E3A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34085DA9-1937-EA1F-1587-BF0F5AD789ED}"/>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1E5AC954-D062-D9CB-526A-F0EDBB5AB4F3}"/>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27B54D98-5A4C-A9A5-ADE1-DB4159305FBE}"/>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1726E4AA-24D1-DB42-C161-FA24F1C04EAF}"/>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B55B7D3E-F882-F371-BE63-42FE12DDFFEA}"/>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90D22809-2CBF-C32F-36F4-7E5937C63BB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CEBEE5ED-2F07-1366-4F7F-F08C01FDC21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47BB1992-CBBF-5DC3-5735-55DCB70F24D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B7B54951-36C6-BC99-E9FA-EAFA033D78B3}"/>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DA7C6FEF-73CC-3B71-240C-2C6CBFE26B6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0C6DBE6F-DB00-7573-48BF-7A6CA664422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EDB00E6F-D05B-4982-6307-CDE382556AF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282BA12E-6050-AF74-16DE-D759B3A8EC1F}"/>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205BBA4B-1361-9675-9F75-E87C2D557831}"/>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3CB0F509-0735-4A8A-6A08-BA0231B9A9C5}"/>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2CD7C147-86D2-EFA0-1FA9-04D27338B643}"/>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A2C1A690-29DB-FB79-C9F4-8688FA8C95FE}"/>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3FC6CB42-4CB7-7CF6-F777-660FB938D86E}"/>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4774D7F4-9495-9CE6-08C9-7BCE93D06B1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A2CE8DBA-B464-E397-BD4C-4BC3EF1EFBC8}"/>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52F4C56E-0153-3475-099A-CD90C99E19C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12B8BE4-D9CF-3E88-24ED-A3AEC3A2FB6B}"/>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C925931E-B12D-7047-AC31-F9E4009D16A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A77DD9A3-6C25-CB72-D21D-ABF7E6F1327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48C01CE7-E987-6845-D531-CC369D7F9E5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37A5778-65CF-A33E-5575-0547695754BD}"/>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12A57F0A-D09D-3E53-AF7F-EFD2F097B6D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99D5FBD9-C4B4-E9CB-4B0B-CCC8DD76C623}"/>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0AB1C703-486D-43F0-5662-117187467C4D}"/>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A7D0ED4D-5B35-22D7-07B6-A8CFB24AEB1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845D5DEF-9135-8968-F1C4-EA15465222DA}"/>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A5C5889-ECF0-F823-73B1-A85F53C7A0A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099EC8DF-4601-F581-0185-ADA31B4E19C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7CA0387A-8489-AF4E-B69F-3F3E0DB864A5}"/>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D1390903-3F28-421F-7503-B4B29A2EFD32}"/>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02D44C61-A825-2CA0-316D-9BAEBB17836A}"/>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0C8993D7-A46C-7362-7EB7-FD37C2C92EC7}"/>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8F5516CF-18EC-C44B-24D8-C3EA4E2F802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B2813DA5-AF62-F34F-0C5A-B13CC376151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1B3EFB6E-3766-A2A2-7781-CE9EE77D12FB}"/>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B164879D-0E3F-062F-BF79-BF0C5D6A907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E61475C-B42D-08D0-1F58-BE95B58BF6E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9973600E-5AF2-D756-D31C-B7CD78FCADB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59BFAC79-B078-3B2D-0260-5806764CB5D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106FBE6F-4D5F-0937-DA6C-6AA537B6612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EA7B1B31-F6F1-EFBE-2936-097D420F79A9}"/>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9A0A41B3-7421-78CF-1BCC-F790D9C72A8D}"/>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4CB34E73-3740-BED5-8E4D-E0C05E23A48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AE464307-46F4-AFB5-964B-F1EE96BFF6C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1A2CB310-A9FA-C0F0-6152-A8F3F893C58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84847486-90A7-2C02-DE34-F85DCD5972EE}"/>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F43910DE-D976-2916-0709-D6324FC0D74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E8C9CFE0-1BBB-E4C4-381D-D2B3AE2115D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38C368D2-FC38-64A2-49A9-1412EB0D218F}"/>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196E98E1-D2B6-C864-8D00-220FD14158C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178D01E4-FC87-11E5-A40D-20FA3B5015B4}"/>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4D4D9140-6DBC-D03D-2E09-5481D677DA2B}"/>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47DAAF84-E7CA-A12B-E65C-2C210E0E557F}"/>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A8A33102-5AD8-581D-7C8F-DF3238A4248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04467F61-41F2-4D4A-FF0E-C6FF50B55C4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4F3DCB05-9A3C-E7FC-B72A-E1E4DE86663A}"/>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50272197-7F98-FFB1-1101-F32DD27EF2BB}"/>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D9A659A7-561D-7D1B-2494-DFB7AAB7EFC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9DDBE62-E594-7430-FBE7-F8384892B944}"/>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D9F6E35B-A636-AF82-49F9-D380E86BBF72}"/>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4F196BF8-91CB-C4FA-32D9-01FF19FB001F}"/>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1500808A-3724-2F0E-81C6-6B3C1FA562CE}"/>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Power BI Dashboard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92B9950-C0E9-727B-CC4F-6BCEC32757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5F8882D1-7432-2E2E-167C-EE14D5C94426}"/>
              </a:ext>
            </a:extLst>
          </p:cNvPr>
          <p:cNvSpPr>
            <a:spLocks noGrp="1"/>
          </p:cNvSpPr>
          <p:nvPr>
            <p:ph type="sldNum" sz="quarter" idx="12"/>
          </p:nvPr>
        </p:nvSpPr>
        <p:spPr/>
        <p:txBody>
          <a:bodyPr/>
          <a:lstStyle/>
          <a:p>
            <a:fld id="{38A635C9-4A98-4745-BD96-9D0E32025E69}" type="slidenum">
              <a:rPr lang="en-IN" smtClean="0"/>
              <a:t>10</a:t>
            </a:fld>
            <a:endParaRPr lang="en-IN" dirty="0"/>
          </a:p>
        </p:txBody>
      </p:sp>
      <p:pic>
        <p:nvPicPr>
          <p:cNvPr id="6" name="Picture 5">
            <a:extLst>
              <a:ext uri="{FF2B5EF4-FFF2-40B4-BE49-F238E27FC236}">
                <a16:creationId xmlns:a16="http://schemas.microsoft.com/office/drawing/2014/main" id="{E4469FC6-EBFB-DFAF-88A5-57B5845AD8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99236" y="1862140"/>
            <a:ext cx="5147867" cy="2672538"/>
          </a:xfrm>
          <a:prstGeom prst="roundRect">
            <a:avLst>
              <a:gd name="adj" fmla="val 1408"/>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7" name="TextBox 6">
            <a:extLst>
              <a:ext uri="{FF2B5EF4-FFF2-40B4-BE49-F238E27FC236}">
                <a16:creationId xmlns:a16="http://schemas.microsoft.com/office/drawing/2014/main" id="{FF39797C-3503-C648-F5E9-1004256692BF}"/>
              </a:ext>
            </a:extLst>
          </p:cNvPr>
          <p:cNvSpPr txBox="1"/>
          <p:nvPr/>
        </p:nvSpPr>
        <p:spPr>
          <a:xfrm>
            <a:off x="8155000" y="5089499"/>
            <a:ext cx="3117646" cy="369332"/>
          </a:xfrm>
          <a:prstGeom prst="rect">
            <a:avLst/>
          </a:prstGeom>
          <a:noFill/>
        </p:spPr>
        <p:txBody>
          <a:bodyPr wrap="square" rtlCol="0">
            <a:spAutoFit/>
          </a:bodyPr>
          <a:lstStyle/>
          <a:p>
            <a:r>
              <a:rPr lang="en-US" dirty="0"/>
              <a:t>Fig : Power BI Dashboard</a:t>
            </a:r>
            <a:endParaRPr lang="en-IN" dirty="0"/>
          </a:p>
        </p:txBody>
      </p:sp>
      <p:sp>
        <p:nvSpPr>
          <p:cNvPr id="10" name="TextBox 9">
            <a:extLst>
              <a:ext uri="{FF2B5EF4-FFF2-40B4-BE49-F238E27FC236}">
                <a16:creationId xmlns:a16="http://schemas.microsoft.com/office/drawing/2014/main" id="{F73441EB-E6A6-2271-9A18-84C66D931A82}"/>
              </a:ext>
            </a:extLst>
          </p:cNvPr>
          <p:cNvSpPr txBox="1"/>
          <p:nvPr/>
        </p:nvSpPr>
        <p:spPr>
          <a:xfrm>
            <a:off x="187731" y="1211514"/>
            <a:ext cx="6045118" cy="4247317"/>
          </a:xfrm>
          <a:prstGeom prst="rect">
            <a:avLst/>
          </a:prstGeom>
          <a:noFill/>
        </p:spPr>
        <p:txBody>
          <a:bodyPr wrap="square">
            <a:spAutoFit/>
          </a:bodyPr>
          <a:lstStyle/>
          <a:p>
            <a:pPr algn="just"/>
            <a:r>
              <a:rPr lang="en-US" dirty="0"/>
              <a:t>Power BI dashboard titled </a:t>
            </a:r>
            <a:r>
              <a:rPr lang="en-US" b="1" dirty="0"/>
              <a:t>“Financial News Impact on Indian Stock Market and Commodities”</a:t>
            </a:r>
            <a:r>
              <a:rPr lang="en-US" dirty="0"/>
              <a:t> provides a comprehensive analysis of how financial news sentiment influences different market segments. The visualizations highlight the relationship between </a:t>
            </a:r>
            <a:r>
              <a:rPr lang="en-US" b="1" dirty="0"/>
              <a:t>sentiment (positive or negative)</a:t>
            </a:r>
            <a:r>
              <a:rPr lang="en-US" dirty="0"/>
              <a:t> and </a:t>
            </a:r>
            <a:r>
              <a:rPr lang="en-US" b="1" dirty="0"/>
              <a:t>financial market impact counts</a:t>
            </a:r>
            <a:r>
              <a:rPr lang="en-US" dirty="0"/>
              <a:t> across commodities, futures, and capital markets. The </a:t>
            </a:r>
            <a:r>
              <a:rPr lang="en-US" b="1" dirty="0"/>
              <a:t>bar and line charts</a:t>
            </a:r>
            <a:r>
              <a:rPr lang="en-US" dirty="0"/>
              <a:t> illustrate how market reactions vary by </a:t>
            </a:r>
            <a:r>
              <a:rPr lang="en-US" b="1" dirty="0"/>
              <a:t>year, commodity type, and delivered value</a:t>
            </a:r>
            <a:r>
              <a:rPr lang="en-US" dirty="0"/>
              <a:t>, while the </a:t>
            </a:r>
            <a:r>
              <a:rPr lang="en-US" b="1" dirty="0"/>
              <a:t>pie chart</a:t>
            </a:r>
            <a:r>
              <a:rPr lang="en-US" dirty="0"/>
              <a:t> breaks down impact trends over time. Additionally, the </a:t>
            </a:r>
            <a:r>
              <a:rPr lang="en-US" b="1" dirty="0"/>
              <a:t>sentiment count chart</a:t>
            </a:r>
            <a:r>
              <a:rPr lang="en-US" dirty="0"/>
              <a:t> summarizes increases or decreases in market influence, offering a clear comparison between positive and negative news. Slicers for </a:t>
            </a:r>
            <a:r>
              <a:rPr lang="en-US" b="1" dirty="0"/>
              <a:t>month and year</a:t>
            </a:r>
            <a:r>
              <a:rPr lang="en-US" dirty="0"/>
              <a:t> allow users to filter insights dynamically, making this dashboard an effective tool for tracking sentiment-driven financial behavior and market dynamics.</a:t>
            </a:r>
            <a:endParaRPr lang="en-IN" dirty="0"/>
          </a:p>
        </p:txBody>
      </p:sp>
    </p:spTree>
    <p:extLst>
      <p:ext uri="{BB962C8B-B14F-4D97-AF65-F5344CB8AC3E}">
        <p14:creationId xmlns:p14="http://schemas.microsoft.com/office/powerpoint/2010/main" val="285122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B0C7-BAC2-F6B2-F69D-68B5C92DAD8E}"/>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EB1BFF2-3811-F6BF-F2FA-E7B619FD9029}"/>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A2453A75-7A72-2BFC-1FBD-29C043B9AA97}"/>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C99C9C45-CC0C-A9A1-8559-58B21752DC39}"/>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8550B54-CA59-94C6-B26B-95932FAE8A1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531C883A-DC0D-C88F-4E21-1FFDB6D2766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8898079F-1B08-F1A3-DF50-2C7AE8380127}"/>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E25F854D-4C6D-6DB8-B708-BBE65D176EC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2472DF77-E9B4-CFC9-AFF5-53065DECB578}"/>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CE4B8391-D689-58B3-E34C-2DCA3D73E804}"/>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4FD32187-3469-2686-C88A-EEE5DE644CA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74C1AE65-1F67-A997-BB73-9399CE94F72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A22C1648-E40B-69F2-66F4-6157BD0F9D8B}"/>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75E1CEF6-F262-80EC-D8B4-DBD6FC93C40A}"/>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89CD1BD4-C278-2A98-7028-68BAEB5D9CF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0DBD609F-6F91-03F2-692F-B6B5786DBDC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A43150C0-BB9C-874A-972A-F51CD6405EC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425B3C5D-7277-AF88-EFE2-89D02BF73011}"/>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636B8D62-C894-4A4D-5539-21A3A2D5F33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D4B9F68A-B696-247A-9F99-DBD95DF5494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BE489459-7968-7488-D4A8-466D5379B12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15E1E766-D4B6-6327-1E75-E76712C2E9E5}"/>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465842B5-7F32-EFC3-45FB-277373DBD7B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2B191344-1910-0531-FBE1-33C9A97B79CC}"/>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F4F94208-486D-E323-C9A2-B387D0BC2B5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00841AEF-CDA6-D073-2976-99938C476215}"/>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B881461A-257F-8770-F32E-DC5A654F4EAE}"/>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013A0C41-AEBC-BF30-3D75-9D7FE9EC6146}"/>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C185E809-616E-AC44-7A6D-AE3F4F68CA7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188BEDC8-B0E6-1ECC-B6BC-2E7B52889D4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438F7334-4AF3-51B5-86F2-3DD6842362C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9FAD5CB8-4FFA-E370-6D18-2D0F499B59CA}"/>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6F444F2D-7EF2-38C4-1AFC-D24EBF8FD36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3E529F6D-1A29-9270-B679-C19370572717}"/>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F53FE36D-EE25-98D5-4307-5AB1CE52DBA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A72F6C16-C2AD-473A-9BCD-6D3E59A30AA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AF19F27-63FB-A462-9765-CA97906EE28B}"/>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86CF5C57-10A3-F25E-6A18-59A136C4B55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1AE1B591-ABFA-AD5C-D18F-9B381386CAC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64C3FB2-21B0-8756-D511-8FD3A09F42FE}"/>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51CAEDDB-ACE4-5988-1F0B-CCB722B59C9D}"/>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08A7D0AE-BE03-5A67-61CE-452C33C6DEAC}"/>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21F34742-4CA5-6EEB-D7A2-2B3B1024FCE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F0A44A0C-3250-DF2D-0A1F-E79408DAD4A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C1396A95-3BF3-139D-1538-CCED69CF37D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8D3ACB86-51B5-3C00-0567-7D513DA8160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90F27806-1B98-95D0-5F2D-CB56668A629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2A3CA3A9-70A9-D3D9-36D2-EC69CC910844}"/>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7B51DE49-CC68-162C-7859-A35FBABE691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2CDFD687-32AA-61EF-9B5D-613C3880DCA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79F8E397-3BB7-0478-6945-5587A3CF6D4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C463C5B4-9987-2CE7-0E5D-73A5E00687B8}"/>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BBB9EB89-CABB-3114-9AEB-A0E2409C478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ADE70EA-94F7-BB44-D496-9AD82C298B0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7D16F91C-55D7-5441-C7D9-EC9598BB026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2288E847-0654-7902-D6A1-57E95F4BE837}"/>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F0BCF39E-00C9-C66C-0E77-53A096DBA58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82133C11-545C-EDBE-EEED-1915D0BD38FF}"/>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6A155804-15F1-884C-5D3B-7C5825EB1C4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B97CAB7E-E104-07E1-3796-1B71FA594E8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A45D9E0A-0B34-16E6-12DF-513672AB23E1}"/>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98111845-E76D-170C-BB87-3863762BD66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F9795B7F-ACF9-DDA5-3D33-4CCD121F255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88DF1F8A-66BB-4669-4B7E-CA52FDD42D9C}"/>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20751600-50C6-D5A1-79D3-82CAFC50DE4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33D0B2A6-AF20-C311-A4FC-35D0BA2E2B4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3D3582B1-0387-D469-C097-53162DC9FB36}"/>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2E037612-7E64-BD8B-6DB9-42C5B309DABD}"/>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7308EAD2-1C6C-A969-B18E-4C5AB8956D3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9769E6BE-44C1-936C-1AB3-A37C3376BBCA}"/>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545A7BB0-4FCF-4257-AF0E-C8FC98FD57E3}"/>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40FCCB16-D966-BD42-7AAE-DE54AA52C84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A7EAEB5-4EE1-13AC-4E63-08887B6036F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BFC9737B-407E-FC2F-F612-3A98B8D1BE2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F74DDDCD-E158-950C-7BB3-1624CA6777A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E1B3AA25-E178-88DF-3D71-4D58C72CB4BE}"/>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Power BI Dashboard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8D999248-6991-9FC5-146E-8E43364862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7A666F90-8087-D32D-D30D-E6B0561E5E2D}"/>
              </a:ext>
            </a:extLst>
          </p:cNvPr>
          <p:cNvSpPr>
            <a:spLocks noGrp="1"/>
          </p:cNvSpPr>
          <p:nvPr>
            <p:ph type="sldNum" sz="quarter" idx="12"/>
          </p:nvPr>
        </p:nvSpPr>
        <p:spPr/>
        <p:txBody>
          <a:bodyPr/>
          <a:lstStyle/>
          <a:p>
            <a:fld id="{38A635C9-4A98-4745-BD96-9D0E32025E69}" type="slidenum">
              <a:rPr lang="en-IN" smtClean="0"/>
              <a:t>11</a:t>
            </a:fld>
            <a:endParaRPr lang="en-IN" dirty="0"/>
          </a:p>
        </p:txBody>
      </p:sp>
      <p:pic>
        <p:nvPicPr>
          <p:cNvPr id="8" name="Picture 7">
            <a:extLst>
              <a:ext uri="{FF2B5EF4-FFF2-40B4-BE49-F238E27FC236}">
                <a16:creationId xmlns:a16="http://schemas.microsoft.com/office/drawing/2014/main" id="{7A59D19D-A378-2F11-C8EF-DF5F05CD21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4792" y="985712"/>
            <a:ext cx="9842413" cy="5057192"/>
          </a:xfrm>
          <a:prstGeom prst="rect">
            <a:avLst/>
          </a:prstGeom>
        </p:spPr>
      </p:pic>
    </p:spTree>
    <p:extLst>
      <p:ext uri="{BB962C8B-B14F-4D97-AF65-F5344CB8AC3E}">
        <p14:creationId xmlns:p14="http://schemas.microsoft.com/office/powerpoint/2010/main" val="30042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18EB-3C50-FD3C-307D-54C0D662AB88}"/>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4B07F96-BCC0-2C71-89A7-40590C75CE28}"/>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CFD84CD9-A3E9-6554-934B-4CC7D1D52EB3}"/>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40B11F5E-9D5F-5F49-D9EB-08AF97FEB9BB}"/>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B61942EE-324F-8FB6-A18B-62250E0236F0}"/>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D12A91AF-58AD-E1CE-4A76-4576B59D81B7}"/>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56669C40-2513-287D-7FAC-8B83A6746D1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6D3086C9-792D-1CE0-EA8A-CB01600AAB4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0937AF8E-2711-A4EA-D85A-1F95B4B4FD3E}"/>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3E8B2C25-C0F5-B8EE-0A1B-C331730E1524}"/>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10B799C7-ABAD-50CB-7B37-A26284A9A18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460FD906-164F-509D-9D1F-A301FCCB426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A0EDBE5C-0985-8BC1-A840-7D1ADCC263C0}"/>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FC5F2C78-6B85-080B-4BD3-248DB830863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834C6B7A-4193-B06E-04E2-9C564EBEA86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0565DBB3-4B54-A6D5-9075-D9B4E0D52A4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C47F1289-65B5-5392-E58D-DB2F588C711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D4CC10F3-F3F8-A3E0-563A-201AEE9BA1C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AD8D9A65-A518-06BB-1373-BBFCF07597F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0ECBD901-180F-3710-2EBE-1249D74ECE41}"/>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E2757910-FD13-0A86-EEC2-7EDF81B1F615}"/>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46E16600-B8C4-1460-BE33-726D01757644}"/>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F8A22740-CA89-3828-9AC9-B81E97FC9AAD}"/>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0B714FF0-06CD-FEE6-26C1-A11E2EB49B15}"/>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D3B9FB55-42DD-782D-95B7-9C9B47C21FE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9FE56B32-E90F-DDA3-65C0-3ADC3EFF7E4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8B00D624-4759-063F-1A02-79D976FDD85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2A679FC3-C4E0-69AA-3550-37ECBA3329E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87F2D1A2-25F1-B172-E99B-87A087CBDDB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BA53521B-C8F6-190E-20CD-34A4D145256B}"/>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D13492B7-1463-514C-16A4-4EB34E1014B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1C4A19C0-9E5D-B5F6-28BF-541235EBCE1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D992B5D9-7172-E57A-DFE0-8292EA41BAFC}"/>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148D8EE0-03C7-0550-6668-F50B5CE3032A}"/>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6BCC9C83-E647-9292-DA7F-0B4D4A94D37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71DBDBB4-7F3B-BCA7-3947-0D565820A5C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96C40404-376D-72A6-EC3E-C931B705690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2416F75B-792D-8748-3C1C-D42991AEE8D6}"/>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8E34059A-302F-8FA2-7CD6-FF46B3E0B294}"/>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90CB2D02-2D56-6075-FEAA-E741D80F7E62}"/>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12D3C4A3-71B0-F958-9069-65F2E9F4FA5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10830268-AC61-854C-37F9-5441A8A4FC6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3AE0DD26-C91A-7757-FD86-3206FC4CF090}"/>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A431A7B3-CBB4-FE00-B377-49E6370CF338}"/>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9477AB22-3633-436C-B16B-AE644F9DDA5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7C0E0D62-DB81-9FBE-EA1C-293580BBE085}"/>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A84812FF-D80F-C77B-7260-0AF2FF43A4A9}"/>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6D145CE-7C89-8AB5-101C-003848FAAB2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ABCAFEFD-9E35-397D-28B5-689724129048}"/>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A2F56FF8-B3F2-E900-B92D-32F842C7310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867FE643-C5E2-3948-999E-C05A4B62753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89EDC70F-9115-2073-8535-C59B5040F3C2}"/>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D4E1E910-A3F4-E306-A3D5-31F9C5A92C6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E17E15A0-C367-94A2-C2F9-85EF8A6D8D7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E2DA6839-4849-AD72-4609-B9AC0D79AC7D}"/>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BEA598F5-26C6-FBE8-233A-52925C8CFB9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E5C19B96-7EBD-6FA1-7E92-613B96BF146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29A5443E-B358-09D2-61C9-B697678C166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57613B6C-1190-1D13-4185-E3B6B484AB05}"/>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48C540AD-BFFA-806D-67A9-6724317A35A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935228E5-E02F-CC09-C73C-1CA958024AB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504B7098-D705-A58A-F0FD-EE42390D691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5E255527-E6E0-CD7D-943F-67F327424419}"/>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AC7F68DC-EAEA-91CC-1FC9-113BFF99C91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2009D5DF-DE08-E9AD-1045-5D51393685A6}"/>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A2B7434F-4CFE-A8B3-C145-3F1EDEC79B6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7BF4C443-E92D-0DBD-6DB4-B3950528C9A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F0904684-0E3E-9B26-1512-B0E3E56C0A5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C4866D07-6126-4F89-B6A5-8C17EE75BD4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372CB514-3CAE-8AC3-C260-977E50D632F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92C7A4B7-F219-8445-E4F3-624CA769D59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4372C72E-3C8D-BE50-6AEB-46D199B40DF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57CBB1AA-1762-DB48-F93A-4813F792942A}"/>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A75294D1-860F-25F6-E5EF-8D93F5F18FE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078C58E1-15A4-8E0F-3CCF-4D4EF05606D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9EFEE35F-44E1-2BB7-06B6-E46AC380C6EA}"/>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5AFB87A3-7998-7AA0-30F7-949A19FAD5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BBBF32BE-654B-43EA-9E06-FA50513109E2}"/>
              </a:ext>
            </a:extLst>
          </p:cNvPr>
          <p:cNvSpPr>
            <a:spLocks noGrp="1"/>
          </p:cNvSpPr>
          <p:nvPr>
            <p:ph type="sldNum" sz="quarter" idx="12"/>
          </p:nvPr>
        </p:nvSpPr>
        <p:spPr/>
        <p:txBody>
          <a:bodyPr/>
          <a:lstStyle/>
          <a:p>
            <a:fld id="{38A635C9-4A98-4745-BD96-9D0E32025E69}" type="slidenum">
              <a:rPr lang="en-IN" smtClean="0"/>
              <a:t>12</a:t>
            </a:fld>
            <a:endParaRPr lang="en-IN" dirty="0"/>
          </a:p>
        </p:txBody>
      </p:sp>
      <p:sp>
        <p:nvSpPr>
          <p:cNvPr id="7" name="TextBox 6">
            <a:extLst>
              <a:ext uri="{FF2B5EF4-FFF2-40B4-BE49-F238E27FC236}">
                <a16:creationId xmlns:a16="http://schemas.microsoft.com/office/drawing/2014/main" id="{36C15FC9-1882-FB29-BCC6-169D0BD2D56D}"/>
              </a:ext>
            </a:extLst>
          </p:cNvPr>
          <p:cNvSpPr txBox="1"/>
          <p:nvPr/>
        </p:nvSpPr>
        <p:spPr>
          <a:xfrm>
            <a:off x="7631514" y="5089499"/>
            <a:ext cx="3638894" cy="369332"/>
          </a:xfrm>
          <a:prstGeom prst="rect">
            <a:avLst/>
          </a:prstGeom>
          <a:noFill/>
        </p:spPr>
        <p:txBody>
          <a:bodyPr wrap="square" rtlCol="0">
            <a:spAutoFit/>
          </a:bodyPr>
          <a:lstStyle/>
          <a:p>
            <a:r>
              <a:rPr lang="en-US" dirty="0"/>
              <a:t>Fig : Random Forest Classifier Result  </a:t>
            </a:r>
            <a:endParaRPr lang="en-IN" dirty="0"/>
          </a:p>
        </p:txBody>
      </p:sp>
      <p:sp>
        <p:nvSpPr>
          <p:cNvPr id="10" name="TextBox 9">
            <a:extLst>
              <a:ext uri="{FF2B5EF4-FFF2-40B4-BE49-F238E27FC236}">
                <a16:creationId xmlns:a16="http://schemas.microsoft.com/office/drawing/2014/main" id="{568953EE-7BC9-0389-B619-FCE40E784052}"/>
              </a:ext>
            </a:extLst>
          </p:cNvPr>
          <p:cNvSpPr txBox="1"/>
          <p:nvPr/>
        </p:nvSpPr>
        <p:spPr>
          <a:xfrm>
            <a:off x="183471" y="975151"/>
            <a:ext cx="6250391" cy="5078313"/>
          </a:xfrm>
          <a:prstGeom prst="rect">
            <a:avLst/>
          </a:prstGeom>
          <a:noFill/>
        </p:spPr>
        <p:txBody>
          <a:bodyPr wrap="square">
            <a:spAutoFit/>
          </a:bodyPr>
          <a:lstStyle/>
          <a:p>
            <a:pPr marL="342900" indent="-342900" algn="just">
              <a:buAutoNum type="arabicPeriod"/>
            </a:pPr>
            <a:r>
              <a:rPr lang="en-US" b="1" dirty="0"/>
              <a:t>Classification</a:t>
            </a:r>
          </a:p>
          <a:p>
            <a:pPr algn="just"/>
            <a:endParaRPr lang="en-US" dirty="0"/>
          </a:p>
          <a:p>
            <a:pPr algn="just"/>
            <a:r>
              <a:rPr lang="en-US" dirty="0"/>
              <a:t>The </a:t>
            </a:r>
            <a:r>
              <a:rPr lang="en-US" b="1" dirty="0"/>
              <a:t>Random Forest Algorithm (RFA)</a:t>
            </a:r>
            <a:r>
              <a:rPr lang="en-US" dirty="0"/>
              <a:t> was chosen for classification because of its robustness, ability to handle large datasets, and effectiveness with both numerical and categorical variables. RFA operates by constructing multiple decision trees and aggregating their results to achieve higher accuracy and prevent overfitting. In this project, the algorithm was applied to predict the </a:t>
            </a:r>
            <a:r>
              <a:rPr lang="en-US" b="1" dirty="0"/>
              <a:t>sentiment of financial news</a:t>
            </a:r>
            <a:r>
              <a:rPr lang="en-US" dirty="0"/>
              <a:t> based on multiple market and commodity indicators such as turnover, traded contracts, total value, and confidence levels.</a:t>
            </a:r>
          </a:p>
          <a:p>
            <a:pPr algn="just"/>
            <a:r>
              <a:rPr lang="en-US" dirty="0"/>
              <a:t> </a:t>
            </a:r>
          </a:p>
          <a:p>
            <a:pPr algn="just"/>
            <a:r>
              <a:rPr lang="en-US" dirty="0"/>
              <a:t>The model achieved an </a:t>
            </a:r>
            <a:r>
              <a:rPr lang="en-US" b="1" dirty="0"/>
              <a:t>accuracy of 100%</a:t>
            </a:r>
            <a:r>
              <a:rPr lang="en-US" dirty="0"/>
              <a:t>, indicating strong correlations between financial indicators and sentiment trends. This demonstrates that the Random Forest model efficiently captured the patterns and dependencies within the data, making it a reliable tool for </a:t>
            </a:r>
            <a:r>
              <a:rPr lang="en-US" b="1" dirty="0"/>
              <a:t>analyzing the impact of financial activities on market sentiment</a:t>
            </a:r>
            <a:r>
              <a:rPr lang="en-US" dirty="0"/>
              <a:t>.</a:t>
            </a:r>
            <a:endParaRPr lang="en-IN" dirty="0"/>
          </a:p>
        </p:txBody>
      </p:sp>
      <p:pic>
        <p:nvPicPr>
          <p:cNvPr id="8" name="Picture 7">
            <a:extLst>
              <a:ext uri="{FF2B5EF4-FFF2-40B4-BE49-F238E27FC236}">
                <a16:creationId xmlns:a16="http://schemas.microsoft.com/office/drawing/2014/main" id="{B363FB72-119A-29EA-B01E-8985606C974A}"/>
              </a:ext>
            </a:extLst>
          </p:cNvPr>
          <p:cNvPicPr>
            <a:picLocks noChangeAspect="1"/>
          </p:cNvPicPr>
          <p:nvPr/>
        </p:nvPicPr>
        <p:blipFill>
          <a:blip r:embed="rId3"/>
          <a:stretch>
            <a:fillRect/>
          </a:stretch>
        </p:blipFill>
        <p:spPr>
          <a:xfrm>
            <a:off x="7313300" y="1283836"/>
            <a:ext cx="4275322" cy="3519714"/>
          </a:xfrm>
          <a:prstGeom prst="rect">
            <a:avLst/>
          </a:prstGeom>
        </p:spPr>
      </p:pic>
    </p:spTree>
    <p:extLst>
      <p:ext uri="{BB962C8B-B14F-4D97-AF65-F5344CB8AC3E}">
        <p14:creationId xmlns:p14="http://schemas.microsoft.com/office/powerpoint/2010/main" val="579360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145E-4EDA-074A-3623-D17445775FC8}"/>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E97071EA-9A35-8427-673F-8730B4CEFB87}"/>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86D5C030-B0D0-C127-E11E-19C275B5804D}"/>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F311D5C2-787A-CBFC-DFBA-1DC9AB0AAE72}"/>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4D38B677-47CC-B610-D490-F03BC6AE3C0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A89B5CE7-21F8-9A15-BFDE-D75A6A1F69B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4D826FA7-65B7-37B9-2F87-CFA4B8BC8CB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A499FD0A-A5F2-7AB2-A73E-6032B725C008}"/>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0358026-F692-72E5-B82E-1F9270B797FA}"/>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89DA98A1-D775-1EE0-56DF-D357B3FA0DF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F24D8537-91CC-A600-E40A-CB02C47E52D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151152FB-2FBE-60BE-4CB4-ED9C01EAD3C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2B26DCA3-00D8-6EEB-B27B-FA6C16DFC48B}"/>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3603ADF9-C298-C1FF-585F-884D6E5E8D3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B59E00C7-00EC-C603-E763-2149EDA394E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B63B7F9D-70A8-3261-DE87-4E3C294DB4E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B8A07816-3B26-8983-9C44-A7CD8BCED02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9CA1A6A0-9E69-C6FE-BC11-FDB629D458E6}"/>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8253ECAE-8D64-EA76-655B-C10A4136A2A5}"/>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1DC49A58-A73F-8B18-A8B0-31E6F96BAC41}"/>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FF211C7C-DC6B-9938-6951-991DED3E4B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80A10918-065A-6645-7D39-636BD8A9E1C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DE0FC5C2-8F90-9132-A076-538AF1AC99BE}"/>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7A5E358D-6349-AB30-6C77-84595DFEC5A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4311F76A-45A8-AE7B-0547-7043A2EBCF00}"/>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584252B7-ADFC-5D91-D70F-354DEBB87CE8}"/>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1AC7BAA4-AB8A-80F4-0301-0CA85DAAC50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B2E17E8F-1857-AF1D-4D21-8BB671A0EEF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F571A223-FE27-BB84-9A42-9BA383EB67A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F03307A-A174-6D3A-8FE7-4E41B42B2CA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8EB54F25-92CD-4676-F84B-1B352AE46A8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B127BD32-E08C-F770-52B7-6D632C5A03B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39FED0CE-60AC-D155-DF51-86A32B509452}"/>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AE965B24-46A9-E7D7-1DC7-68A5F07C1F9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AC4C8CC9-E546-C980-768F-6EE2ABC17D9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6F2C4569-359C-EFA8-494B-40B773739D67}"/>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872E4A0D-1FC8-6E25-84A8-53F08F455847}"/>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9CED9CBB-40A4-4E18-6577-C7A58B8F534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E0E2A1AE-A055-6678-4B91-E78D2750B9A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67517430-C842-D6BF-2B13-27B64C77D308}"/>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42A23864-C5E3-BA1B-1D1E-85F21366660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42F71D72-90E0-874B-1CD2-E232991A0BB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7CD75F20-D5BE-E54E-0745-3F09056D624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E02C0F85-68D1-CE17-DE60-6F7E8BD8856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D17D3EDC-713B-533E-8EDE-9727BB9585C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E7C322E0-CB8B-5923-D4BB-999528B81335}"/>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627FA5F0-464B-E67C-3049-C0A1D51AB8D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29522541-0F73-F82F-F47B-FEC3D579050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5E66A9F6-011D-A08F-4648-51B4CC970D1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8BA26162-E077-C564-7E0E-B8F3AEFFF9B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D863E941-C90E-BA1D-BBD6-E406FBA4EA8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5D2F19B1-9806-7DBB-7637-622A8CB76E3A}"/>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7AB58241-F082-43AF-0D9A-2EAF6BD220B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A609326-5F4D-D2FF-9E72-4D472624C9A5}"/>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79E59CCE-09BA-DD26-7711-E4A90843402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D8F9790A-2B85-2882-3B7E-E40ED863C05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417126B6-F8C7-5695-1E25-1A96C02BF2A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4BDE4851-58A3-CB66-B03B-646E1DB092B4}"/>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1B034E2E-8EC4-C3B7-9911-EE28F4394C8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648C81AC-B7DB-2587-7A08-DA432A21B5E1}"/>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09262896-0A56-D7AB-FED7-C5A68958E57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0749CE7E-878E-0277-1FEB-CDF5A70AD2AE}"/>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615ABF86-B907-8B4B-041F-FE6C71BA6315}"/>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9C494789-97D7-F803-5396-7151671766CA}"/>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644DFC1-7A7B-3ACB-3A0E-40873CA736AC}"/>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85C4CEDA-F16B-ABA0-5A0C-CB574206E3E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D3586CE6-9E0F-015B-9BE7-F7B14C70300B}"/>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1B8FB91E-2F35-143C-E06F-512B4A0C292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D97D909E-CFF6-90D6-B4EF-642A5B0AD972}"/>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81E07D84-C49A-802D-D76E-73646F6056A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64A1946A-63E2-18E9-8014-11971DD1C69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A47EE702-D90E-0C8D-DFF2-7CD0AB963D2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D5A7A26A-7F13-A3BF-A1B6-7B33B29F04B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4F906A6A-0D04-A21A-9E59-658DB0794606}"/>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CECEC4C0-E5D2-75A8-2276-F5DFD59CCFA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03976DDA-0333-6B39-2C4C-3E82439A15BF}"/>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08817662-4413-5999-F83D-640827E71C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1D9E6FF0-D6AB-8899-5219-C5F385A11497}"/>
              </a:ext>
            </a:extLst>
          </p:cNvPr>
          <p:cNvSpPr>
            <a:spLocks noGrp="1"/>
          </p:cNvSpPr>
          <p:nvPr>
            <p:ph type="sldNum" sz="quarter" idx="12"/>
          </p:nvPr>
        </p:nvSpPr>
        <p:spPr/>
        <p:txBody>
          <a:bodyPr/>
          <a:lstStyle/>
          <a:p>
            <a:fld id="{38A635C9-4A98-4745-BD96-9D0E32025E69}" type="slidenum">
              <a:rPr lang="en-IN" smtClean="0"/>
              <a:t>13</a:t>
            </a:fld>
            <a:endParaRPr lang="en-IN" dirty="0"/>
          </a:p>
        </p:txBody>
      </p:sp>
      <p:sp>
        <p:nvSpPr>
          <p:cNvPr id="7" name="TextBox 6">
            <a:extLst>
              <a:ext uri="{FF2B5EF4-FFF2-40B4-BE49-F238E27FC236}">
                <a16:creationId xmlns:a16="http://schemas.microsoft.com/office/drawing/2014/main" id="{3E66FA74-6E8F-1746-9C86-9ED14D5829EB}"/>
              </a:ext>
            </a:extLst>
          </p:cNvPr>
          <p:cNvSpPr txBox="1"/>
          <p:nvPr/>
        </p:nvSpPr>
        <p:spPr>
          <a:xfrm>
            <a:off x="7566199" y="5455795"/>
            <a:ext cx="3638894" cy="646331"/>
          </a:xfrm>
          <a:prstGeom prst="rect">
            <a:avLst/>
          </a:prstGeom>
          <a:noFill/>
        </p:spPr>
        <p:txBody>
          <a:bodyPr wrap="square" rtlCol="0">
            <a:spAutoFit/>
          </a:bodyPr>
          <a:lstStyle/>
          <a:p>
            <a:r>
              <a:rPr lang="en-US" dirty="0"/>
              <a:t>Fig : </a:t>
            </a:r>
            <a:r>
              <a:rPr lang="en-IN" dirty="0"/>
              <a:t>Feature Importance Analysis</a:t>
            </a:r>
          </a:p>
          <a:p>
            <a:r>
              <a:rPr lang="en-US" dirty="0"/>
              <a:t> </a:t>
            </a:r>
            <a:endParaRPr lang="en-IN" dirty="0"/>
          </a:p>
        </p:txBody>
      </p:sp>
      <p:sp>
        <p:nvSpPr>
          <p:cNvPr id="10" name="TextBox 9">
            <a:extLst>
              <a:ext uri="{FF2B5EF4-FFF2-40B4-BE49-F238E27FC236}">
                <a16:creationId xmlns:a16="http://schemas.microsoft.com/office/drawing/2014/main" id="{79DEF564-6715-C2DA-BAEF-1FF16D201890}"/>
              </a:ext>
            </a:extLst>
          </p:cNvPr>
          <p:cNvSpPr txBox="1"/>
          <p:nvPr/>
        </p:nvSpPr>
        <p:spPr>
          <a:xfrm>
            <a:off x="211142" y="1150541"/>
            <a:ext cx="5912529" cy="4524315"/>
          </a:xfrm>
          <a:prstGeom prst="rect">
            <a:avLst/>
          </a:prstGeom>
          <a:noFill/>
        </p:spPr>
        <p:txBody>
          <a:bodyPr wrap="square">
            <a:spAutoFit/>
          </a:bodyPr>
          <a:lstStyle/>
          <a:p>
            <a:r>
              <a:rPr lang="en-US" b="1" dirty="0"/>
              <a:t>2. Feature Importance Analysis – </a:t>
            </a:r>
            <a:r>
              <a:rPr lang="en-US" b="1" dirty="0" err="1"/>
              <a:t>XGBoost</a:t>
            </a:r>
            <a:r>
              <a:rPr lang="en-US" b="1" dirty="0"/>
              <a:t> Model</a:t>
            </a:r>
          </a:p>
          <a:p>
            <a:endParaRPr lang="en-US" b="1" dirty="0"/>
          </a:p>
          <a:p>
            <a:pPr algn="just"/>
            <a:r>
              <a:rPr lang="en-US" dirty="0"/>
              <a:t>The feature importance plot highlights the key financial parameters influencing market performance prediction as determined by the </a:t>
            </a:r>
            <a:r>
              <a:rPr lang="en-US" dirty="0" err="1"/>
              <a:t>XGBoost</a:t>
            </a:r>
            <a:r>
              <a:rPr lang="en-US" dirty="0"/>
              <a:t> classifier. Among all the input features, </a:t>
            </a:r>
            <a:r>
              <a:rPr lang="en-US" b="1" dirty="0"/>
              <a:t>‘</a:t>
            </a:r>
            <a:r>
              <a:rPr lang="en-US" b="1" dirty="0" err="1"/>
              <a:t>st_delivered_value_crores</a:t>
            </a:r>
            <a:r>
              <a:rPr lang="en-US" b="1" dirty="0"/>
              <a:t>’</a:t>
            </a:r>
            <a:r>
              <a:rPr lang="en-US" dirty="0"/>
              <a:t> emerged as the most dominant factor, indicating that delivery value in crores has the greatest impact on market performance outcomes. It is followed by </a:t>
            </a:r>
            <a:r>
              <a:rPr lang="en-US" b="1" dirty="0"/>
              <a:t>‘</a:t>
            </a:r>
            <a:r>
              <a:rPr lang="en-US" b="1" dirty="0" err="1"/>
              <a:t>total_value_lacs</a:t>
            </a:r>
            <a:r>
              <a:rPr lang="en-US" b="1" dirty="0"/>
              <a:t>’</a:t>
            </a:r>
            <a:r>
              <a:rPr lang="en-US" dirty="0"/>
              <a:t> and </a:t>
            </a:r>
            <a:r>
              <a:rPr lang="en-US" b="1" dirty="0"/>
              <a:t>‘</a:t>
            </a:r>
            <a:r>
              <a:rPr lang="en-US" b="1" dirty="0" err="1"/>
              <a:t>st_total</a:t>
            </a:r>
            <a:r>
              <a:rPr lang="en-US" b="1" dirty="0"/>
              <a:t>’</a:t>
            </a:r>
            <a:r>
              <a:rPr lang="en-US" dirty="0"/>
              <a:t>, which also contribute significantly to model predictions. </a:t>
            </a:r>
          </a:p>
          <a:p>
            <a:pPr algn="just"/>
            <a:endParaRPr lang="en-US" dirty="0"/>
          </a:p>
          <a:p>
            <a:pPr algn="just"/>
            <a:r>
              <a:rPr lang="en-US" dirty="0"/>
              <a:t>In contrast, </a:t>
            </a:r>
            <a:r>
              <a:rPr lang="en-US" b="1" dirty="0"/>
              <a:t>‘</a:t>
            </a:r>
            <a:r>
              <a:rPr lang="en-US" b="1" dirty="0" err="1"/>
              <a:t>avg_daily_turnover_lacs</a:t>
            </a:r>
            <a:r>
              <a:rPr lang="en-US" b="1" dirty="0"/>
              <a:t>’</a:t>
            </a:r>
            <a:r>
              <a:rPr lang="en-US" dirty="0"/>
              <a:t> and </a:t>
            </a:r>
            <a:r>
              <a:rPr lang="en-US" b="1" dirty="0"/>
              <a:t>‘</a:t>
            </a:r>
            <a:r>
              <a:rPr lang="en-US" b="1" dirty="0" err="1"/>
              <a:t>st_mtm</a:t>
            </a:r>
            <a:r>
              <a:rPr lang="en-US" b="1" dirty="0"/>
              <a:t>’</a:t>
            </a:r>
            <a:r>
              <a:rPr lang="en-US" dirty="0"/>
              <a:t> show relatively lower influence. This analysis demonstrates how </a:t>
            </a:r>
            <a:r>
              <a:rPr lang="en-US" dirty="0" err="1"/>
              <a:t>XGBoost</a:t>
            </a:r>
            <a:r>
              <a:rPr lang="en-US" dirty="0"/>
              <a:t> effectively identifies the most influential financial indicators, helping in understanding which parameters drive positive or negative market trends.</a:t>
            </a:r>
          </a:p>
        </p:txBody>
      </p:sp>
      <p:pic>
        <p:nvPicPr>
          <p:cNvPr id="13" name="Picture 12">
            <a:extLst>
              <a:ext uri="{FF2B5EF4-FFF2-40B4-BE49-F238E27FC236}">
                <a16:creationId xmlns:a16="http://schemas.microsoft.com/office/drawing/2014/main" id="{D57F871B-FFCA-E306-0BD1-6AA67C2A21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9306" y="1282160"/>
            <a:ext cx="5397495" cy="3734336"/>
          </a:xfrm>
          <a:prstGeom prst="rect">
            <a:avLst/>
          </a:prstGeom>
        </p:spPr>
      </p:pic>
    </p:spTree>
    <p:extLst>
      <p:ext uri="{BB962C8B-B14F-4D97-AF65-F5344CB8AC3E}">
        <p14:creationId xmlns:p14="http://schemas.microsoft.com/office/powerpoint/2010/main" val="2888520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A56C-B73B-9B85-A07A-9DF9B176C34D}"/>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595AB7EE-6FE4-1F86-8073-9129C5B3A2EF}"/>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303D18E6-5289-149E-9CE3-7E722B4F01A1}"/>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F83FBFA7-C7D4-7F37-D6CD-A7F1538C01F5}"/>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7F574106-296D-EA8D-5272-EB26C207D199}"/>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5D31810A-5C8C-4B10-0D3C-CEA57C37157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41B57386-0C7C-2100-111C-8C4C2D1C8D5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C39DC4D8-D63B-0089-0551-156B2071D10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70708C1C-1C77-8AA8-2819-B663C8DA2F7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C7B35B59-A07D-AAF0-978B-7E26081335E0}"/>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C378015E-5779-B1DF-4EB9-D913BB6B1583}"/>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24682DB8-DECB-7157-C5B3-907EB6DA11F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1720DDAA-966A-9E6E-F394-B2EFB601A16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81F931B3-480C-FC33-D5C4-529948F77317}"/>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4FE8AB59-E7E4-70D4-DCF0-D4B445BA933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EEA60A32-6AA4-0291-4E27-5A679E64F41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2846634B-8D64-DC6E-EC63-82D8559175F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A9326A8F-5592-7B4F-E242-1E41AD2AAEB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02D405FB-7C31-A38A-FC18-A3BB80B142AE}"/>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F2B4B5CD-F529-4657-2B0A-78750899F0B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B5938B0A-7510-2BE3-9CF2-8BE4CCBFD71F}"/>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9F9F5A4C-305A-9216-31B9-55C6B1411080}"/>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31305458-51DB-E63F-4DA5-54C4579ABD27}"/>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8ED42147-6F25-CB04-763C-25E69E860735}"/>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600943CE-8D74-3318-8DB3-769415F3B64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ED03A21F-09B5-2A15-67DB-E68C58607FD8}"/>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FBCEB620-0256-412C-4EEA-36BCC665E20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F159E935-C106-2F3D-6BD6-5E9F5D1119B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0E44B18C-B93D-6951-80D2-200F7853E1B6}"/>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C9E57E06-128C-524A-F885-F64221A4544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E7BDB875-E334-45BB-E6CB-4C94DCFBB199}"/>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179F55A4-7CFB-A236-91FA-89D2AC000A4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1777DEB5-22A8-4D90-5A3A-5334D82C2AF0}"/>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20E24BDC-DAB3-12DC-A4D1-BD5E22CF4779}"/>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293CDE44-A7FD-0202-BBB1-48EADEFB56B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B7B65588-816C-298C-C4C0-3A112BF74146}"/>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65DFDEE-9B61-0531-E9FC-07F4655FE40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DDC117E2-57FA-97C8-C1C7-DB844591337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A832DEBD-83C3-F57D-28BA-14A7BC61036E}"/>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7E9F2AA0-5E8F-068F-EE7B-3062ED366757}"/>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1F9C3FB2-1EB0-8696-8C34-0DDCE405CFC9}"/>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61796DEB-2A35-6FBA-AE81-5C3913CF30F5}"/>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007A83B5-1479-B87D-236A-F7FBC2C357F6}"/>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126B215E-2C9E-F47A-36E2-76C0DFE48AAC}"/>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D45CD154-3FE1-A81D-A919-A1C80A37878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8D70161F-9CEB-E814-1387-AC92EA9C0A1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707BE7B9-55E6-0D15-3C07-E64BA7D6D2A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7BBDE5BD-BE4F-7395-F18C-03F269ED63C9}"/>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F49CED66-9B9F-A053-D40F-C5E0482132A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7D8128DC-E780-12A7-E4FF-8C13DD81CDCD}"/>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02ABB345-781C-FE00-81CD-814E795BB065}"/>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B2E446B4-A5CE-94F7-9291-45F36EE3137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373DAC4B-4C54-DD8C-3FAA-6465A5D21E36}"/>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5123327D-659A-EEEB-8E94-DB1C739FEA1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3DA2B73B-F475-090B-AA50-F8DA4E2F7E4E}"/>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05A4C314-BC60-EAE4-D334-3CBD260FDE5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2F7D0360-DCF5-ED9A-9059-C73EBAEF251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D76A7CD8-DEE4-2117-6D1D-7B13A13524F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607DF607-48A9-8ECC-1212-B094949EC9CB}"/>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26E4E96A-8197-38CB-EE16-A50E4AA8E1B4}"/>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D013346B-E2E9-1AC2-64E3-BFB31E4C3A30}"/>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A7EA7DC3-1596-9EEA-AE08-8FFF0703BE0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7B66E818-DD21-E765-0A58-0A87ABC7BF06}"/>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2C31036C-FC25-ABC9-9B9B-3AD908BE8AB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29AE7ECC-C183-5E86-45CF-5A25557490B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D8E887BD-015C-8157-2C51-3BD984F24582}"/>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4838C5A0-4173-1A91-3B4D-9ECF4109DC4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AB7BAA64-1D4A-0152-41A9-511A34B12A98}"/>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5D8289AF-9709-4B32-9C08-8B30806A4377}"/>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24488229-74D5-AABF-4690-63DF3FEEE016}"/>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995C05FD-903F-5474-B309-6F84752D45E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931B1639-8F1F-D534-9694-CE690D292D5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83E77CC0-A2AD-7199-AD87-D264754BAC9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6422520D-0740-4348-736E-CEC28F005AA0}"/>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9ED72185-0B3B-B4CA-4895-1FCB45DA781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F1A2974A-08B6-8A19-2970-E126746C0EF5}"/>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89CC391-9941-6330-171D-DA5C8699F5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4405625F-C477-7AF7-9E92-3060D031D1B5}"/>
              </a:ext>
            </a:extLst>
          </p:cNvPr>
          <p:cNvSpPr>
            <a:spLocks noGrp="1"/>
          </p:cNvSpPr>
          <p:nvPr>
            <p:ph type="sldNum" sz="quarter" idx="12"/>
          </p:nvPr>
        </p:nvSpPr>
        <p:spPr/>
        <p:txBody>
          <a:bodyPr/>
          <a:lstStyle/>
          <a:p>
            <a:fld id="{38A635C9-4A98-4745-BD96-9D0E32025E69}" type="slidenum">
              <a:rPr lang="en-IN" smtClean="0"/>
              <a:t>14</a:t>
            </a:fld>
            <a:endParaRPr lang="en-IN" dirty="0"/>
          </a:p>
        </p:txBody>
      </p:sp>
      <p:sp>
        <p:nvSpPr>
          <p:cNvPr id="7" name="TextBox 6">
            <a:extLst>
              <a:ext uri="{FF2B5EF4-FFF2-40B4-BE49-F238E27FC236}">
                <a16:creationId xmlns:a16="http://schemas.microsoft.com/office/drawing/2014/main" id="{306F1563-E960-DD6E-20A0-6488D075558C}"/>
              </a:ext>
            </a:extLst>
          </p:cNvPr>
          <p:cNvSpPr txBox="1"/>
          <p:nvPr/>
        </p:nvSpPr>
        <p:spPr>
          <a:xfrm>
            <a:off x="7612853" y="5099881"/>
            <a:ext cx="3638894" cy="646331"/>
          </a:xfrm>
          <a:prstGeom prst="rect">
            <a:avLst/>
          </a:prstGeom>
          <a:noFill/>
        </p:spPr>
        <p:txBody>
          <a:bodyPr wrap="square" rtlCol="0">
            <a:spAutoFit/>
          </a:bodyPr>
          <a:lstStyle/>
          <a:p>
            <a:r>
              <a:rPr lang="en-US" dirty="0"/>
              <a:t>Fig : </a:t>
            </a:r>
            <a:r>
              <a:rPr lang="en-IN" dirty="0"/>
              <a:t>Feature Correlation Heatmap</a:t>
            </a:r>
          </a:p>
          <a:p>
            <a:r>
              <a:rPr lang="en-US" dirty="0"/>
              <a:t> </a:t>
            </a:r>
            <a:endParaRPr lang="en-IN" dirty="0"/>
          </a:p>
        </p:txBody>
      </p:sp>
      <p:sp>
        <p:nvSpPr>
          <p:cNvPr id="10" name="TextBox 9">
            <a:extLst>
              <a:ext uri="{FF2B5EF4-FFF2-40B4-BE49-F238E27FC236}">
                <a16:creationId xmlns:a16="http://schemas.microsoft.com/office/drawing/2014/main" id="{F8C405A9-EB1C-D81E-7867-0A00DB595228}"/>
              </a:ext>
            </a:extLst>
          </p:cNvPr>
          <p:cNvSpPr txBox="1"/>
          <p:nvPr/>
        </p:nvSpPr>
        <p:spPr>
          <a:xfrm>
            <a:off x="199121" y="986285"/>
            <a:ext cx="5912529" cy="4801314"/>
          </a:xfrm>
          <a:prstGeom prst="rect">
            <a:avLst/>
          </a:prstGeom>
          <a:noFill/>
        </p:spPr>
        <p:txBody>
          <a:bodyPr wrap="square">
            <a:spAutoFit/>
          </a:bodyPr>
          <a:lstStyle/>
          <a:p>
            <a:r>
              <a:rPr lang="en-US" b="1" dirty="0"/>
              <a:t>3. Feature Correlation Heatmap </a:t>
            </a:r>
          </a:p>
          <a:p>
            <a:endParaRPr lang="en-US" b="1" dirty="0"/>
          </a:p>
          <a:p>
            <a:pPr algn="just"/>
            <a:r>
              <a:rPr lang="en-US" dirty="0"/>
              <a:t>The correlation heatmap visualizes the strength and direction of relationships between key financial indicators. A strong positive correlation is observed between </a:t>
            </a:r>
            <a:r>
              <a:rPr lang="en-US" b="1" dirty="0"/>
              <a:t>‘</a:t>
            </a:r>
            <a:r>
              <a:rPr lang="en-US" b="1" dirty="0" err="1"/>
              <a:t>st_total</a:t>
            </a:r>
            <a:r>
              <a:rPr lang="en-US" b="1" dirty="0"/>
              <a:t>’</a:t>
            </a:r>
            <a:r>
              <a:rPr lang="en-US" dirty="0"/>
              <a:t> and </a:t>
            </a:r>
            <a:r>
              <a:rPr lang="en-US" b="1" dirty="0"/>
              <a:t>‘</a:t>
            </a:r>
            <a:r>
              <a:rPr lang="en-US" b="1" dirty="0" err="1"/>
              <a:t>st_mtm</a:t>
            </a:r>
            <a:r>
              <a:rPr lang="en-US" b="1" dirty="0"/>
              <a:t>’ (0.99)</a:t>
            </a:r>
            <a:r>
              <a:rPr lang="en-US" dirty="0"/>
              <a:t>, indicating that both metrics move closely together in market behavior. Similarly, </a:t>
            </a:r>
            <a:r>
              <a:rPr lang="en-US" b="1" dirty="0"/>
              <a:t>‘</a:t>
            </a:r>
            <a:r>
              <a:rPr lang="en-US" b="1" dirty="0" err="1"/>
              <a:t>st_delivered_value_crores</a:t>
            </a:r>
            <a:r>
              <a:rPr lang="en-US" b="1" dirty="0"/>
              <a:t>’</a:t>
            </a:r>
            <a:r>
              <a:rPr lang="en-US" dirty="0"/>
              <a:t> shows a moderate positive relation with </a:t>
            </a:r>
            <a:r>
              <a:rPr lang="en-US" b="1" dirty="0"/>
              <a:t>‘</a:t>
            </a:r>
            <a:r>
              <a:rPr lang="en-US" b="1" dirty="0" err="1"/>
              <a:t>st_total</a:t>
            </a:r>
            <a:r>
              <a:rPr lang="en-US" b="1" dirty="0"/>
              <a:t>’</a:t>
            </a:r>
            <a:r>
              <a:rPr lang="en-US" dirty="0"/>
              <a:t> and </a:t>
            </a:r>
            <a:r>
              <a:rPr lang="en-US" b="1" dirty="0"/>
              <a:t>‘</a:t>
            </a:r>
            <a:r>
              <a:rPr lang="en-US" b="1" dirty="0" err="1"/>
              <a:t>st_mtm</a:t>
            </a:r>
            <a:r>
              <a:rPr lang="en-US" b="1" dirty="0"/>
              <a:t>’</a:t>
            </a:r>
            <a:r>
              <a:rPr lang="en-US" dirty="0"/>
              <a:t>, suggesting their combined influence on market activity. </a:t>
            </a:r>
          </a:p>
          <a:p>
            <a:pPr algn="just"/>
            <a:endParaRPr lang="en-US" dirty="0"/>
          </a:p>
          <a:p>
            <a:pPr algn="just"/>
            <a:r>
              <a:rPr lang="en-US" dirty="0"/>
              <a:t>Conversely, </a:t>
            </a:r>
            <a:r>
              <a:rPr lang="en-US" b="1" dirty="0"/>
              <a:t>‘</a:t>
            </a:r>
            <a:r>
              <a:rPr lang="en-US" b="1" dirty="0" err="1"/>
              <a:t>total_value_lacs</a:t>
            </a:r>
            <a:r>
              <a:rPr lang="en-US" b="1" dirty="0"/>
              <a:t>’</a:t>
            </a:r>
            <a:r>
              <a:rPr lang="en-US" dirty="0"/>
              <a:t> and </a:t>
            </a:r>
            <a:r>
              <a:rPr lang="en-US" b="1" dirty="0"/>
              <a:t>‘</a:t>
            </a:r>
            <a:r>
              <a:rPr lang="en-US" b="1" dirty="0" err="1"/>
              <a:t>avg_daily_turnover_lacs</a:t>
            </a:r>
            <a:r>
              <a:rPr lang="en-US" b="1" dirty="0"/>
              <a:t>’</a:t>
            </a:r>
            <a:r>
              <a:rPr lang="en-US" dirty="0"/>
              <a:t> show mild negative correlations with other variables, implying independent contribution patterns. The overall correlation structure highlights how delivery and turnover metrics are tightly linked, while confidence remains largely independent, ensuring balanced predictive insights.</a:t>
            </a:r>
          </a:p>
        </p:txBody>
      </p:sp>
      <p:pic>
        <p:nvPicPr>
          <p:cNvPr id="6" name="Picture 5">
            <a:extLst>
              <a:ext uri="{FF2B5EF4-FFF2-40B4-BE49-F238E27FC236}">
                <a16:creationId xmlns:a16="http://schemas.microsoft.com/office/drawing/2014/main" id="{5A60DB0F-437F-A93B-F193-C776CB6BCD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4147" y="1539926"/>
            <a:ext cx="5411754" cy="3311992"/>
          </a:xfrm>
          <a:prstGeom prst="rect">
            <a:avLst/>
          </a:prstGeom>
        </p:spPr>
      </p:pic>
    </p:spTree>
    <p:extLst>
      <p:ext uri="{BB962C8B-B14F-4D97-AF65-F5344CB8AC3E}">
        <p14:creationId xmlns:p14="http://schemas.microsoft.com/office/powerpoint/2010/main" val="198566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1B46B-F8B2-3327-60CF-4F8ED885C98A}"/>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FF9FC7B8-E1C0-B9E3-4985-00BB4D79EC22}"/>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261E7C1D-C104-2869-E643-791B899783A3}"/>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D8B82AFE-14C4-338B-C35F-CA4333ADCB9E}"/>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C5D2BD0D-F660-9D4D-EFCE-61613ED4B60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7E6AD7A0-FEF2-7E53-039F-934BE01DABD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04EA54DC-85C0-1391-E676-36028BBEEE5D}"/>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B493132C-9181-0DBD-4D74-D4A0CD462DBD}"/>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D19EDD92-AD9B-F275-62E8-9AF630857B7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D7A6B7B4-BEC7-EFC1-950C-01E7B2ED9E5D}"/>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965F52CF-8B2A-B5CE-64CB-401E537A37B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37DB2DCB-B645-6BBA-38E8-3FB02DF59F6F}"/>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095F03D1-A53C-0558-81C2-04AD05443D2F}"/>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BCCB5AC2-656B-3E97-76CE-A8BD6F388A09}"/>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EE5C89FE-6808-2659-A801-A4D390AF190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01C62629-C0FB-2ADB-009C-EB1D29D6FA9C}"/>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F04C2176-70CE-1DA8-60C7-CB1A8FC0971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CCDCB2D8-D0C4-C05D-4D73-F034A3762052}"/>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09E1B01C-D563-8EED-CE10-5CEE2937E377}"/>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2747F2F9-0F59-E7C4-8B21-D7582CB5EC17}"/>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4A38469A-315A-121C-99D3-F81DDB4B6AA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437B4188-3B5D-5F43-95E0-E5D7E1600B4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E2907B08-8D6E-8700-530E-B800ABE12505}"/>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31381B01-DEB2-485A-59A0-6D699CDFE0E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C6E9B83A-0159-14D0-3CBE-5F8A4A67467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A9A349A7-1AAF-B22A-88D6-0DC6D3833300}"/>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782DCB96-3077-0D2D-8819-6EF8D994F63D}"/>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177EFD54-B102-44E5-C628-C54EC5E3A5D0}"/>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4262F8C1-9B15-4A43-FFBF-76CA9E43B1D4}"/>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3D4DD51A-DA42-5D04-28A0-C6E87F3702A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B8861FE1-4B05-1252-0C2B-EA79AACC3D10}"/>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5116CA79-19A2-EA57-70C5-1C9C986F4B8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11E39190-8675-9150-0BC9-58C1D129390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EC8E7753-17D4-0948-53A9-3D9DF817A8AA}"/>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BDB9C872-0861-A4DD-914E-E570F1F69F4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0296510C-999A-62C9-63B5-3F0E3CF7457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21B4BB8-953D-5FA2-2449-7EFE69B128B4}"/>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1707C636-1274-6F33-FBEF-1145FC5750B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3C1B7449-B87C-3B7F-1388-4EA7576B874F}"/>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84DEC15B-09B9-0FC0-03BB-A1A88A40A3F9}"/>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751446FE-ED0F-F03F-345E-B048A681B2B7}"/>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5CABA548-1863-6E0C-2AA6-C3589C5A5B73}"/>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4530B2BA-8C36-A90F-9A86-D39E0F7ED4A0}"/>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3AF8E4F6-2C26-06C2-E289-8E3BE0C0C50F}"/>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D850B6C4-DE68-1F61-411C-E5087B760E4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F916C0EB-B82D-F115-F1C7-BED5A9B52505}"/>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2A4BF0DB-35D5-224C-F7B6-4A9220F9C90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B80655A0-3124-61D8-6FD2-5FE73DC7C73D}"/>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BD500EF0-338A-70C9-8AB5-484876FEDF2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B747A949-2288-A4A0-6DA5-305A67DF432D}"/>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CDF6F0D0-93A9-D157-4F94-B8FCD7082831}"/>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059F5E3D-D940-EA50-18BB-CF835C1CEF0D}"/>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19C7F66A-E26C-D761-8BEA-DC29394A57F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3DA5E240-9A78-5ED4-E51D-A55D81409D4F}"/>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6DDC490F-E350-A56B-2DDB-00D2471B9733}"/>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2312550B-BA5D-09BA-BB48-60E6DCF46CA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8D5578AE-FB69-2788-62B0-1E91B5EB89F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F815C4AC-AF37-9BDA-2014-B39799C1365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8C71138-E97B-AE19-9EB2-28F758E429C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6D4D3379-DD48-EC73-C7B0-CAE208BDB87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2E977660-8A85-DFC9-354F-FABCA1B481EA}"/>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F70DB3E5-B6ED-766B-5AFB-EA54FD91C53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93B571F4-1D24-BC65-CC1F-482282E6332E}"/>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4B6EF0A5-1F33-C300-708F-C93A7442125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B0F6939B-E3E9-CC6F-B70B-CC4713B331C6}"/>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DD5BB4E4-B07D-A024-6C30-B44BEB367DD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17FB9F43-BC7E-8201-B1C0-0D2F99523506}"/>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A9813812-5772-6580-9358-19FAF4511E5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8A8C27C8-EA91-7B05-1FB9-BD787B3746E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A345F17E-20D9-2923-5479-D68955D6986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A188F2FB-E3E1-7D12-F588-5C2811FEA01B}"/>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4323B8A2-6451-E0CE-F9FA-66796D9BA3E6}"/>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A7618C7A-5698-9D8C-52A6-134ECD71A2F4}"/>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7642515D-1D8A-25D6-CF4E-7CFE98AEC0EF}"/>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78EF9CD6-032F-151E-508D-FA1D82AA74AF}"/>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A3517D36-F27F-94FF-BAA6-C018782EFFF7}"/>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D27864A-9DFC-2E30-9022-14C89BD231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6DD1550D-576D-FE68-713B-5FA7619DB4C1}"/>
              </a:ext>
            </a:extLst>
          </p:cNvPr>
          <p:cNvSpPr>
            <a:spLocks noGrp="1"/>
          </p:cNvSpPr>
          <p:nvPr>
            <p:ph type="sldNum" sz="quarter" idx="12"/>
          </p:nvPr>
        </p:nvSpPr>
        <p:spPr/>
        <p:txBody>
          <a:bodyPr/>
          <a:lstStyle/>
          <a:p>
            <a:fld id="{38A635C9-4A98-4745-BD96-9D0E32025E69}" type="slidenum">
              <a:rPr lang="en-IN" smtClean="0"/>
              <a:t>15</a:t>
            </a:fld>
            <a:endParaRPr lang="en-IN" dirty="0"/>
          </a:p>
        </p:txBody>
      </p:sp>
      <p:sp>
        <p:nvSpPr>
          <p:cNvPr id="7" name="TextBox 6">
            <a:extLst>
              <a:ext uri="{FF2B5EF4-FFF2-40B4-BE49-F238E27FC236}">
                <a16:creationId xmlns:a16="http://schemas.microsoft.com/office/drawing/2014/main" id="{ACB9F55F-2D3E-3E62-30FE-E2C365F2A4AD}"/>
              </a:ext>
            </a:extLst>
          </p:cNvPr>
          <p:cNvSpPr txBox="1"/>
          <p:nvPr/>
        </p:nvSpPr>
        <p:spPr>
          <a:xfrm>
            <a:off x="7603522" y="4983373"/>
            <a:ext cx="3638894" cy="646331"/>
          </a:xfrm>
          <a:prstGeom prst="rect">
            <a:avLst/>
          </a:prstGeom>
          <a:noFill/>
        </p:spPr>
        <p:txBody>
          <a:bodyPr wrap="square" rtlCol="0">
            <a:spAutoFit/>
          </a:bodyPr>
          <a:lstStyle/>
          <a:p>
            <a:r>
              <a:rPr lang="en-US" dirty="0"/>
              <a:t>Fig : K-Means Clustering Results</a:t>
            </a:r>
            <a:endParaRPr lang="en-IN" dirty="0"/>
          </a:p>
          <a:p>
            <a:r>
              <a:rPr lang="en-US" dirty="0"/>
              <a:t> </a:t>
            </a:r>
            <a:endParaRPr lang="en-IN" dirty="0"/>
          </a:p>
        </p:txBody>
      </p:sp>
      <p:sp>
        <p:nvSpPr>
          <p:cNvPr id="10" name="TextBox 9">
            <a:extLst>
              <a:ext uri="{FF2B5EF4-FFF2-40B4-BE49-F238E27FC236}">
                <a16:creationId xmlns:a16="http://schemas.microsoft.com/office/drawing/2014/main" id="{D630C0F8-44B6-4C92-E614-E309A2DDEEAA}"/>
              </a:ext>
            </a:extLst>
          </p:cNvPr>
          <p:cNvSpPr txBox="1"/>
          <p:nvPr/>
        </p:nvSpPr>
        <p:spPr>
          <a:xfrm>
            <a:off x="144847" y="1059222"/>
            <a:ext cx="6106663" cy="4247317"/>
          </a:xfrm>
          <a:prstGeom prst="rect">
            <a:avLst/>
          </a:prstGeom>
          <a:noFill/>
        </p:spPr>
        <p:txBody>
          <a:bodyPr wrap="square">
            <a:spAutoFit/>
          </a:bodyPr>
          <a:lstStyle/>
          <a:p>
            <a:r>
              <a:rPr lang="en-US" b="1" dirty="0"/>
              <a:t>4. K-Means Clustering </a:t>
            </a:r>
          </a:p>
          <a:p>
            <a:pPr algn="just"/>
            <a:endParaRPr lang="en-US" b="1" dirty="0"/>
          </a:p>
          <a:p>
            <a:pPr algn="just"/>
            <a:r>
              <a:rPr lang="en-US" dirty="0"/>
              <a:t>K-Means clustering was applied to group market data based on trading and fund-related indicators such as trade volume, delivery quantity, and fund pay-ins. The model automatically divided the dataset into three distinct clusters, achieving a Silhouette Score of </a:t>
            </a:r>
            <a:r>
              <a:rPr lang="en-US" b="1" dirty="0"/>
              <a:t>0.434</a:t>
            </a:r>
            <a:r>
              <a:rPr lang="en-US" dirty="0"/>
              <a:t>, indicating reasonably well-separated and meaningful groupings.</a:t>
            </a:r>
          </a:p>
          <a:p>
            <a:pPr algn="just"/>
            <a:endParaRPr lang="en-US" dirty="0"/>
          </a:p>
          <a:p>
            <a:pPr algn="just"/>
            <a:r>
              <a:rPr lang="en-US" dirty="0"/>
              <a:t>Cluster 1 : high-performing </a:t>
            </a:r>
            <a:r>
              <a:rPr lang="en-US" dirty="0" err="1"/>
              <a:t>markets,Cluster</a:t>
            </a:r>
            <a:r>
              <a:rPr lang="en-US" dirty="0"/>
              <a:t> 0 : moderate activity markets and Cluster 2 : low-activity markets. These insights help classify financial market patterns, allowing for better understanding of trading behavior, fund movement, and market performance trends.</a:t>
            </a:r>
          </a:p>
          <a:p>
            <a:endParaRPr lang="en-US" b="1" dirty="0"/>
          </a:p>
        </p:txBody>
      </p:sp>
      <p:pic>
        <p:nvPicPr>
          <p:cNvPr id="13" name="Picture 12">
            <a:extLst>
              <a:ext uri="{FF2B5EF4-FFF2-40B4-BE49-F238E27FC236}">
                <a16:creationId xmlns:a16="http://schemas.microsoft.com/office/drawing/2014/main" id="{73FBE6BA-A947-1FD9-9016-7D99B8E06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5992" y="1776312"/>
            <a:ext cx="4899033" cy="1507217"/>
          </a:xfrm>
          <a:prstGeom prst="rect">
            <a:avLst/>
          </a:prstGeom>
        </p:spPr>
      </p:pic>
      <p:pic>
        <p:nvPicPr>
          <p:cNvPr id="15" name="Picture 14">
            <a:extLst>
              <a:ext uri="{FF2B5EF4-FFF2-40B4-BE49-F238E27FC236}">
                <a16:creationId xmlns:a16="http://schemas.microsoft.com/office/drawing/2014/main" id="{A95A80E0-A3FB-8202-8BAB-2168FE1E3B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5992" y="3283529"/>
            <a:ext cx="4899034" cy="1400370"/>
          </a:xfrm>
          <a:prstGeom prst="rect">
            <a:avLst/>
          </a:prstGeom>
        </p:spPr>
      </p:pic>
    </p:spTree>
    <p:extLst>
      <p:ext uri="{BB962C8B-B14F-4D97-AF65-F5344CB8AC3E}">
        <p14:creationId xmlns:p14="http://schemas.microsoft.com/office/powerpoint/2010/main" val="3080185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2FEAA-E6FA-242C-E0A9-47F01540B95E}"/>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26831492-475F-0D19-F293-B724A770101D}"/>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E30F9088-340E-584F-F323-714D5B67D966}"/>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0C05C0CF-4E53-28A5-151E-72B593190197}"/>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E0C25865-48CC-8EF5-B4DB-2E330DE2EF8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802C424A-D7F7-B98A-5C6B-19EBF36213B2}"/>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4788E4D1-3435-0160-5FCF-4D71C5376D3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F089E3D9-ED0F-DDE9-6925-5673C738C716}"/>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CCE5516F-BED5-4715-23AC-46F25D31358D}"/>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8C4FD4BB-05D0-2F08-5700-6F8C8BDBC89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BE60B777-1675-A19B-67F7-9D1C1BF6AAA0}"/>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1A6B00C3-163A-1AF5-AC92-DDC8555BC211}"/>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7A519FF1-D195-D50B-F50E-4C1E35C7EFF4}"/>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6FF837D9-0453-DFB1-08F0-5E297B819515}"/>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122DEB17-CAF1-E5C7-AE3D-191914CCC922}"/>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A22F450D-884B-9ACC-B4F0-E00FC30EBFD0}"/>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CB11B0C8-C0A1-4E37-8ED5-F15B5A32C7A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3FE29AB5-2F06-38B2-101B-8AF35EC61F7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E54009CB-4C4A-76A6-5AFD-CB9E75459DC3}"/>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EF98F96D-32FD-F556-65C1-3E33396CEE9E}"/>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25836EA1-8C42-85B7-1FF2-AEB651331DC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AF1A5881-72D6-9119-13C9-50FF5DC726A4}"/>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F53ABCB1-E1A0-6E51-B4D6-2915411A80F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1F2C2ED5-2970-2574-4B5B-35A7495B3295}"/>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434E168C-12DC-897D-84DB-9AFF2247714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BB3826F8-BFE3-02C2-63C5-9D4ED210BDCD}"/>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C601D12E-3BB3-D6AB-9C5B-FEB135A884B2}"/>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348193F3-F7F1-94F1-8CCA-90DD40226C45}"/>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10D4C001-2F6F-E343-21EF-9A5E4D2B92AF}"/>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F14A0EA0-3D4F-BB81-F6FD-5C54EDDA9FA3}"/>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7E3E702A-F378-4CFA-34EE-165B7002B1D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A479E0E5-AA65-5F8B-731D-CCA5AF51D33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A9FA225D-4300-B3B8-06A1-289E85361D7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31264B72-678A-4761-FD49-279132A8D3C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DF22FB0D-0DEB-B7AB-1189-FD6655B5D17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5B17ED5A-9A62-A7D1-D8E2-B3D0F3621507}"/>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C9E6CF68-5418-718B-288C-475ABF6795DD}"/>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043E6533-A9A5-42B4-94B0-A6EA303291F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34EF4ADD-139C-DB6B-B576-B87B1A934F97}"/>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0EE31725-73AC-F989-F939-4239B04E837A}"/>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CD355AA8-CE89-9D3C-1A0C-38E219FA86E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FD923B94-31F6-84C2-634D-2298F339A728}"/>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89FA40B3-8AB9-59E1-1AFA-228D899EF881}"/>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234F5BA4-74A1-941F-62A2-473E2EE7B31A}"/>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74918438-657E-B421-223C-00BD6EABEA7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D6F9DCAD-CA68-6A5C-9D13-3C8F1B1EC30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9CFA182E-C447-243A-A67F-9BC758B57603}"/>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5EAD12FD-1EB0-ED98-7D3E-D00DF351971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32C913DF-F7AD-137D-AA90-2D3EE72AA493}"/>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F3C563C9-1467-B437-8648-E8E137FFCCF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B9F95F29-D0EF-6548-A88F-3587274E41D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3A5B05A-F9D2-459F-BDD9-0137B8275E9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BA39BD51-2B17-C6A6-93CF-FB207722C90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D7FD48EA-BACB-2F04-7E16-AAAFAE116F24}"/>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37171852-9E80-56F6-6765-6E1654497118}"/>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33B80C16-8001-83FB-3D11-D1F243DF33DD}"/>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F39C7453-8D3A-BCC9-5738-4D75136981A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2382B67D-E9AD-EFAE-7B28-FC52294109E1}"/>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7D7D88B2-0098-7C4A-0C43-F6E2EEF15F6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9EA8AB6E-972D-1AE2-57EE-89390B91DA7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F8CB0BBC-491E-AB11-B1EF-EA618408E35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7F14F75C-FD07-224E-0508-BA37C2B9891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277ADAF8-E581-0ED4-6DBB-91D4B110A5D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3E924703-26B6-E186-D100-A24EF9EE75BF}"/>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38476B93-CF3E-4179-94AF-FB92529339F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E6CCC29A-2EFA-415A-C372-51746FB885D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83A0AFC0-700D-2660-FA26-4A7152665E7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95691BD7-DBB3-3F93-135B-4D44BBF71A3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4F78604A-A0DE-0FB0-B06C-4D39244447A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5F7B5522-CE0A-4A19-E873-B4AB0CDC3A5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B8F9C987-D6FB-C6BE-1238-F4BB1855C23E}"/>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031B9CF6-4D4A-E81B-2D60-8DA9D99D31C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EDEE9B64-EED9-2ECD-8E1B-5C331B80582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68B05455-49A0-197F-810F-281B8EFAC6F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508A46EA-1655-1AA5-A948-81E886858DF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83D271C2-D6B4-8A26-0E60-B52416CE15E5}"/>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EB18264E-EE35-3883-13F0-0B88C0AEF0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4EF9E459-98C8-3BC3-4275-B6F6DDD2216A}"/>
              </a:ext>
            </a:extLst>
          </p:cNvPr>
          <p:cNvSpPr>
            <a:spLocks noGrp="1"/>
          </p:cNvSpPr>
          <p:nvPr>
            <p:ph type="sldNum" sz="quarter" idx="12"/>
          </p:nvPr>
        </p:nvSpPr>
        <p:spPr/>
        <p:txBody>
          <a:bodyPr/>
          <a:lstStyle/>
          <a:p>
            <a:fld id="{38A635C9-4A98-4745-BD96-9D0E32025E69}" type="slidenum">
              <a:rPr lang="en-IN" smtClean="0"/>
              <a:t>16</a:t>
            </a:fld>
            <a:endParaRPr lang="en-IN" dirty="0"/>
          </a:p>
        </p:txBody>
      </p:sp>
      <p:sp>
        <p:nvSpPr>
          <p:cNvPr id="7" name="TextBox 6">
            <a:extLst>
              <a:ext uri="{FF2B5EF4-FFF2-40B4-BE49-F238E27FC236}">
                <a16:creationId xmlns:a16="http://schemas.microsoft.com/office/drawing/2014/main" id="{600CD6D5-8E67-014B-729F-A2F537002904}"/>
              </a:ext>
            </a:extLst>
          </p:cNvPr>
          <p:cNvSpPr txBox="1"/>
          <p:nvPr/>
        </p:nvSpPr>
        <p:spPr>
          <a:xfrm>
            <a:off x="7986076" y="5474966"/>
            <a:ext cx="3638894" cy="369332"/>
          </a:xfrm>
          <a:prstGeom prst="rect">
            <a:avLst/>
          </a:prstGeom>
          <a:noFill/>
        </p:spPr>
        <p:txBody>
          <a:bodyPr wrap="square" rtlCol="0">
            <a:spAutoFit/>
          </a:bodyPr>
          <a:lstStyle/>
          <a:p>
            <a:r>
              <a:rPr lang="en-US" dirty="0"/>
              <a:t>Fig : Cluster Visualization</a:t>
            </a:r>
            <a:endParaRPr lang="en-IN" dirty="0"/>
          </a:p>
        </p:txBody>
      </p:sp>
      <p:sp>
        <p:nvSpPr>
          <p:cNvPr id="10" name="TextBox 9">
            <a:extLst>
              <a:ext uri="{FF2B5EF4-FFF2-40B4-BE49-F238E27FC236}">
                <a16:creationId xmlns:a16="http://schemas.microsoft.com/office/drawing/2014/main" id="{1A49D73D-0804-F430-C064-4CF62B7DCE31}"/>
              </a:ext>
            </a:extLst>
          </p:cNvPr>
          <p:cNvSpPr txBox="1"/>
          <p:nvPr/>
        </p:nvSpPr>
        <p:spPr>
          <a:xfrm>
            <a:off x="138025" y="1184318"/>
            <a:ext cx="5823196" cy="4524315"/>
          </a:xfrm>
          <a:prstGeom prst="rect">
            <a:avLst/>
          </a:prstGeom>
          <a:noFill/>
        </p:spPr>
        <p:txBody>
          <a:bodyPr wrap="square">
            <a:spAutoFit/>
          </a:bodyPr>
          <a:lstStyle/>
          <a:p>
            <a:r>
              <a:rPr lang="en-US" b="1" dirty="0"/>
              <a:t>5. </a:t>
            </a:r>
            <a:r>
              <a:rPr lang="en-IN" b="1" dirty="0"/>
              <a:t>Cluster Visualization</a:t>
            </a:r>
            <a:r>
              <a:rPr lang="en-US" b="1" dirty="0"/>
              <a:t> </a:t>
            </a:r>
          </a:p>
          <a:p>
            <a:pPr algn="just"/>
            <a:endParaRPr lang="en-US" b="1" dirty="0"/>
          </a:p>
          <a:p>
            <a:pPr algn="just"/>
            <a:r>
              <a:rPr lang="en-US" dirty="0"/>
              <a:t>The scatter plot represents the clustering of market activity patterns based on the number of trades and delivered quantities. Using K-Means, the data was divided into three distinct groups, each shown with a different color. Cluster 1 (orange) indicates high-trade, Cluster 0 (green) represents moderate-performing markets, and Cluster 2 (blue) shows low-activity markets with fewer trades and deliveries. </a:t>
            </a:r>
          </a:p>
          <a:p>
            <a:pPr algn="just"/>
            <a:endParaRPr lang="en-US" dirty="0"/>
          </a:p>
          <a:p>
            <a:pPr algn="just"/>
            <a:r>
              <a:rPr lang="en-US" dirty="0"/>
              <a:t>The clustering results provide a clear view of how trading and delivery volumes group together in different market conditions. This visualization helps in easily spotting high-performing and low-performing segments, making it useful for understanding overall market dynamics and performance trends.</a:t>
            </a:r>
            <a:endParaRPr lang="en-US" b="1" dirty="0"/>
          </a:p>
        </p:txBody>
      </p:sp>
      <p:pic>
        <p:nvPicPr>
          <p:cNvPr id="6" name="Picture 5">
            <a:extLst>
              <a:ext uri="{FF2B5EF4-FFF2-40B4-BE49-F238E27FC236}">
                <a16:creationId xmlns:a16="http://schemas.microsoft.com/office/drawing/2014/main" id="{C0EC714A-05F5-3A69-BAE0-41425C5837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9745" y="1377586"/>
            <a:ext cx="5439612" cy="3928027"/>
          </a:xfrm>
          <a:prstGeom prst="rect">
            <a:avLst/>
          </a:prstGeom>
        </p:spPr>
      </p:pic>
    </p:spTree>
    <p:extLst>
      <p:ext uri="{BB962C8B-B14F-4D97-AF65-F5344CB8AC3E}">
        <p14:creationId xmlns:p14="http://schemas.microsoft.com/office/powerpoint/2010/main" val="3510578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6A79-8C48-0457-9035-8099CF9E22DB}"/>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ED322E86-CCF7-369B-A387-BD81B9BA4655}"/>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27B17F6B-0E0A-5BEE-6232-2E3A9497EAFD}"/>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83E8A2D8-E9EB-B589-1134-4B1451455697}"/>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AFC01A18-BE56-011C-A78A-9BB5D912DCA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E867B139-3915-8252-8DB0-AB9740578B5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8A1A9387-6021-2DCF-2677-FE3FA19C19F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91EDBD15-6C33-9DB0-C747-7B891DB542F4}"/>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893D1516-EF73-4BAC-7538-335A407FA9CB}"/>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EE549307-10AC-ABC8-8304-2DF29B0FB57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EF0F40AA-890D-9C90-F147-01E54368E08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BE3FEE56-FFE3-E1D8-3258-2DAE489BD7B1}"/>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EEEA63E8-67F2-B192-72AD-8E95129F71B2}"/>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D7FCC341-2424-A66A-5EFD-DFB9D7F3857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CB8EF8C7-F74C-17BC-5050-8E62F165FD70}"/>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0DE69439-08D9-F702-F587-B562F2DFA021}"/>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7A6E2F42-EFD9-9A9D-20A3-415C73C028A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66AB1CA3-C27D-7616-74EB-04DA6B4D2C54}"/>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97891C2F-692C-205B-1778-C107E74BDD7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542DCA36-0F64-7D49-1BF4-E30150C1D56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7BD4DD22-F05B-A2A9-04C6-8A24C5118635}"/>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2572ADA3-779B-6A0C-EEE7-D5384385B61F}"/>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785FF845-FC38-EEFC-0233-A8F53BE24BFB}"/>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3E09C61B-8D82-312C-1DFB-1B56B4AA5BD9}"/>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14F33B0B-3CED-E5A7-E94F-56E874803A7E}"/>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486310EC-35B3-246C-43F5-1B2AE098E5F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079AA4D1-758F-69EA-A791-96A11720D7D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E1A93304-969A-CAA1-8A7C-B177EFA1C536}"/>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4B57A16C-BAF1-9B3B-B885-FABCA7DD165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2C96DC85-C39E-F8E7-0B56-CF0775610C38}"/>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91D21F95-7FA4-4019-5CA8-935CB25E9E2B}"/>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461D2A62-9FC8-C9A8-1AFA-1125821979EE}"/>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450C69C8-87FF-5F8E-ADAC-95D38ED5EDC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C3AB24D4-4007-1F2C-CC29-C3FDBAC2078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55852DC7-1A86-02CB-996B-21E3598AEBB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7942043D-DF6E-94F7-9888-CFAD0512A13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A23A442E-E815-43A6-B8AA-82483FB32013}"/>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9658B125-C93D-1D78-669D-3693D300AF0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8AFFDC09-07EA-66DF-16A2-BDBDB7DC65C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30B26EE2-FDA7-CD9B-6D06-BA8A96922BD6}"/>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BF6B0D74-9993-04C0-CF20-F1B97D656B1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C7158EC7-D605-55DE-8CF3-DF0A8383969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F97F8CC9-30E3-1F35-659B-C2D05B0856B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EEE22821-C3C7-D443-6456-B7AFD7445C6A}"/>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74A2FA57-E860-DFC7-7B9B-6C323A24E5FF}"/>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0204AAD6-01A8-3EA7-224A-12DE608760C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EABEC4D6-DDBE-3AB5-B5F1-05D02739A5B9}"/>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6DFDC9AB-C475-E864-8F63-14738CF3888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6EC4FE66-F47D-DC2D-6C18-AC1A1802695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51DCF45F-DB24-BB79-4FF9-22D50219AF2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2415467A-17EA-7BDD-FE4B-97CC9F7F53E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A79F3C50-06CE-5BDE-006F-194D29F3026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57CFDF0D-FE61-0725-5E75-6F0FBCFB32D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71700626-EA17-0C02-0F3C-0BC36DBFC652}"/>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2D9BF292-BC1C-AB9A-ABEC-BEB83F56B39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E6D63FA2-49CD-202D-8C23-A6E1F06DBD5D}"/>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05DEEED3-324B-4C60-C44D-DB2F91D3190E}"/>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E9247B9A-2180-221F-0DD8-917947A40F8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AAB5B87-79D5-2D14-957B-0A8F45B2A16D}"/>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B0B55025-A9FC-9F83-B1F5-E187E6B15A1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596AB35F-0FB6-A5C5-F4C7-4AD97DE02534}"/>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3CA5F727-4105-FB65-D8B5-60F82B2505A8}"/>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7A91E719-8149-355C-1FFD-17BBA956790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54DA436F-F640-7216-9AB5-6D0E568D358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F9D7BACD-C5EC-0C74-B5C2-381DFAEBEC5D}"/>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B0C6143F-A17C-0541-D81C-F660CD92DD9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3F44D4A9-7C9B-3E2D-26AC-47E80290F8D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E8B2A34B-010F-16CE-A29B-27795205F8E1}"/>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EFAFC095-4308-7DF0-2149-E98A58B3E9F0}"/>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5640DB67-AA68-5AA7-07D9-3E5FCF20048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FDB2C1EA-43A2-0D7E-5FE6-65DEE63FAB9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C7C8F92D-CBDD-9307-5800-8B338A5B6C5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250C3316-7175-EAF2-8FDB-9EAA6CB4ABAD}"/>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3D60E61A-D41D-859F-AD39-FC8C3398985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5F322B3B-87AB-71F1-0474-C813BA7E896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CB00D00D-D04C-B7C3-DC63-47EA30C36A74}"/>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AB547D34-6C86-1D79-8BA6-DD7ACF0E0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04F57E6E-8630-9B77-4F93-9A4C1DF236DB}"/>
              </a:ext>
            </a:extLst>
          </p:cNvPr>
          <p:cNvSpPr>
            <a:spLocks noGrp="1"/>
          </p:cNvSpPr>
          <p:nvPr>
            <p:ph type="sldNum" sz="quarter" idx="12"/>
          </p:nvPr>
        </p:nvSpPr>
        <p:spPr/>
        <p:txBody>
          <a:bodyPr/>
          <a:lstStyle/>
          <a:p>
            <a:fld id="{38A635C9-4A98-4745-BD96-9D0E32025E69}" type="slidenum">
              <a:rPr lang="en-IN" smtClean="0"/>
              <a:t>17</a:t>
            </a:fld>
            <a:endParaRPr lang="en-IN" dirty="0"/>
          </a:p>
        </p:txBody>
      </p:sp>
      <p:sp>
        <p:nvSpPr>
          <p:cNvPr id="10" name="TextBox 9">
            <a:extLst>
              <a:ext uri="{FF2B5EF4-FFF2-40B4-BE49-F238E27FC236}">
                <a16:creationId xmlns:a16="http://schemas.microsoft.com/office/drawing/2014/main" id="{D55EEE06-AE32-2099-67EA-2C7B5976E892}"/>
              </a:ext>
            </a:extLst>
          </p:cNvPr>
          <p:cNvSpPr txBox="1"/>
          <p:nvPr/>
        </p:nvSpPr>
        <p:spPr>
          <a:xfrm>
            <a:off x="122199" y="1146326"/>
            <a:ext cx="6038840" cy="4478149"/>
          </a:xfrm>
          <a:prstGeom prst="rect">
            <a:avLst/>
          </a:prstGeom>
          <a:noFill/>
        </p:spPr>
        <p:txBody>
          <a:bodyPr wrap="square">
            <a:spAutoFit/>
          </a:bodyPr>
          <a:lstStyle/>
          <a:p>
            <a:r>
              <a:rPr lang="en-US" sz="1500" b="1" dirty="0"/>
              <a:t>6. Association Rule Mining  </a:t>
            </a:r>
          </a:p>
          <a:p>
            <a:endParaRPr lang="en-US" sz="1500" b="1" dirty="0"/>
          </a:p>
          <a:p>
            <a:pPr algn="just"/>
            <a:r>
              <a:rPr lang="en-US" sz="1500" dirty="0"/>
              <a:t>Association Rule Mining was applied to explore relationships between </a:t>
            </a:r>
            <a:r>
              <a:rPr lang="en-US" sz="1500" i="1" dirty="0"/>
              <a:t>instrument type</a:t>
            </a:r>
            <a:r>
              <a:rPr lang="en-US" sz="1500" dirty="0"/>
              <a:t>, </a:t>
            </a:r>
            <a:r>
              <a:rPr lang="en-US" sz="1500" i="1" dirty="0"/>
              <a:t>segment</a:t>
            </a:r>
            <a:r>
              <a:rPr lang="en-US" sz="1500" dirty="0"/>
              <a:t>, and </a:t>
            </a:r>
            <a:r>
              <a:rPr lang="en-US" sz="1500" i="1" dirty="0"/>
              <a:t>commodity</a:t>
            </a:r>
            <a:r>
              <a:rPr lang="en-US" sz="1500" dirty="0"/>
              <a:t> using the </a:t>
            </a:r>
            <a:r>
              <a:rPr lang="en-US" sz="1500" dirty="0" err="1"/>
              <a:t>Apriori</a:t>
            </a:r>
            <a:r>
              <a:rPr lang="en-US" sz="1500" dirty="0"/>
              <a:t> algorithm. The rules revealed strong and consistent associations, such as FUTCOM instruments always being linked to the Energy segment and Natural Gas trading, while FUTIDX instruments are consistently related to the Index segment and MCX Metal Index commodities. With a perfect confidence score (1.0) and high lift values (up to 7.11), these rules highlight stable trading patterns and interdependencies in the market, providing valuable insights for commodity–instrument alignment and trading strategies.</a:t>
            </a:r>
          </a:p>
          <a:p>
            <a:pPr algn="just"/>
            <a:endParaRPr lang="en-US" sz="1500" dirty="0"/>
          </a:p>
          <a:p>
            <a:pPr algn="just"/>
            <a:r>
              <a:rPr lang="en-US" sz="1500" dirty="0"/>
              <a:t>The results show a clear segmentation pattern where energy-related commodities are primarily traded through FUTCOM instruments, while index-based assets are traded via FUTIDX instruments. This pattern reflects a well-defined alignment between product categories and their preferred trading mechanisms. Such relationships can assist financial analysts and policy makers in understanding market concentration, improving product classification, and optimizing trading strategies. </a:t>
            </a:r>
            <a:endParaRPr lang="en-US" sz="1500" b="1" dirty="0"/>
          </a:p>
        </p:txBody>
      </p:sp>
      <p:graphicFrame>
        <p:nvGraphicFramePr>
          <p:cNvPr id="3" name="Table 2">
            <a:extLst>
              <a:ext uri="{FF2B5EF4-FFF2-40B4-BE49-F238E27FC236}">
                <a16:creationId xmlns:a16="http://schemas.microsoft.com/office/drawing/2014/main" id="{6509F48F-4A10-7413-E7FB-221825C91749}"/>
              </a:ext>
            </a:extLst>
          </p:cNvPr>
          <p:cNvGraphicFramePr>
            <a:graphicFrameLocks noGrp="1"/>
          </p:cNvGraphicFramePr>
          <p:nvPr>
            <p:extLst>
              <p:ext uri="{D42A27DB-BD31-4B8C-83A1-F6EECF244321}">
                <p14:modId xmlns:p14="http://schemas.microsoft.com/office/powerpoint/2010/main" val="3804261889"/>
              </p:ext>
            </p:extLst>
          </p:nvPr>
        </p:nvGraphicFramePr>
        <p:xfrm>
          <a:off x="6611266" y="1465904"/>
          <a:ext cx="5144777" cy="4096808"/>
        </p:xfrm>
        <a:graphic>
          <a:graphicData uri="http://schemas.openxmlformats.org/drawingml/2006/table">
            <a:tbl>
              <a:tblPr>
                <a:tableStyleId>{8A107856-5554-42FB-B03E-39F5DBC370BA}</a:tableStyleId>
              </a:tblPr>
              <a:tblGrid>
                <a:gridCol w="1031351">
                  <a:extLst>
                    <a:ext uri="{9D8B030D-6E8A-4147-A177-3AD203B41FA5}">
                      <a16:colId xmlns:a16="http://schemas.microsoft.com/office/drawing/2014/main" val="3278228657"/>
                    </a:ext>
                  </a:extLst>
                </a:gridCol>
                <a:gridCol w="1204007">
                  <a:extLst>
                    <a:ext uri="{9D8B030D-6E8A-4147-A177-3AD203B41FA5}">
                      <a16:colId xmlns:a16="http://schemas.microsoft.com/office/drawing/2014/main" val="1049848381"/>
                    </a:ext>
                  </a:extLst>
                </a:gridCol>
                <a:gridCol w="688559">
                  <a:extLst>
                    <a:ext uri="{9D8B030D-6E8A-4147-A177-3AD203B41FA5}">
                      <a16:colId xmlns:a16="http://schemas.microsoft.com/office/drawing/2014/main" val="3173654838"/>
                    </a:ext>
                  </a:extLst>
                </a:gridCol>
                <a:gridCol w="633243">
                  <a:extLst>
                    <a:ext uri="{9D8B030D-6E8A-4147-A177-3AD203B41FA5}">
                      <a16:colId xmlns:a16="http://schemas.microsoft.com/office/drawing/2014/main" val="3103041045"/>
                    </a:ext>
                  </a:extLst>
                </a:gridCol>
                <a:gridCol w="1587617">
                  <a:extLst>
                    <a:ext uri="{9D8B030D-6E8A-4147-A177-3AD203B41FA5}">
                      <a16:colId xmlns:a16="http://schemas.microsoft.com/office/drawing/2014/main" val="98072716"/>
                    </a:ext>
                  </a:extLst>
                </a:gridCol>
              </a:tblGrid>
              <a:tr h="468463">
                <a:tc>
                  <a:txBody>
                    <a:bodyPr/>
                    <a:lstStyle/>
                    <a:p>
                      <a:pPr>
                        <a:buNone/>
                      </a:pPr>
                      <a:r>
                        <a:rPr lang="en-IN" sz="1100"/>
                        <a:t>Antecedent (IF)</a:t>
                      </a:r>
                    </a:p>
                  </a:txBody>
                  <a:tcPr marL="82101" marR="82101" marT="41050" marB="41050" anchor="ctr"/>
                </a:tc>
                <a:tc>
                  <a:txBody>
                    <a:bodyPr/>
                    <a:lstStyle/>
                    <a:p>
                      <a:pPr>
                        <a:buNone/>
                      </a:pPr>
                      <a:r>
                        <a:rPr lang="en-IN" sz="1100"/>
                        <a:t>Consequent (THEN)</a:t>
                      </a:r>
                    </a:p>
                  </a:txBody>
                  <a:tcPr marL="82101" marR="82101" marT="41050" marB="41050" anchor="ctr"/>
                </a:tc>
                <a:tc>
                  <a:txBody>
                    <a:bodyPr/>
                    <a:lstStyle/>
                    <a:p>
                      <a:pPr>
                        <a:buNone/>
                      </a:pPr>
                      <a:r>
                        <a:rPr lang="en-IN" sz="1100"/>
                        <a:t>Confidence</a:t>
                      </a:r>
                    </a:p>
                  </a:txBody>
                  <a:tcPr marL="82101" marR="82101" marT="41050" marB="41050" anchor="ctr"/>
                </a:tc>
                <a:tc>
                  <a:txBody>
                    <a:bodyPr/>
                    <a:lstStyle/>
                    <a:p>
                      <a:pPr>
                        <a:buNone/>
                      </a:pPr>
                      <a:r>
                        <a:rPr lang="en-IN" sz="1100" dirty="0"/>
                        <a:t>Lift</a:t>
                      </a:r>
                    </a:p>
                  </a:txBody>
                  <a:tcPr marL="82101" marR="82101" marT="41050" marB="41050" anchor="ctr"/>
                </a:tc>
                <a:tc>
                  <a:txBody>
                    <a:bodyPr/>
                    <a:lstStyle/>
                    <a:p>
                      <a:pPr>
                        <a:buNone/>
                      </a:pPr>
                      <a:r>
                        <a:rPr lang="en-IN" sz="1100"/>
                        <a:t>Meaning</a:t>
                      </a:r>
                    </a:p>
                  </a:txBody>
                  <a:tcPr marL="82101" marR="82101" marT="41050" marB="41050" anchor="ctr"/>
                </a:tc>
                <a:extLst>
                  <a:ext uri="{0D108BD9-81ED-4DB2-BD59-A6C34878D82A}">
                    <a16:rowId xmlns:a16="http://schemas.microsoft.com/office/drawing/2014/main" val="2395557863"/>
                  </a:ext>
                </a:extLst>
              </a:tr>
              <a:tr h="869425">
                <a:tc>
                  <a:txBody>
                    <a:bodyPr/>
                    <a:lstStyle/>
                    <a:p>
                      <a:pPr>
                        <a:buNone/>
                      </a:pPr>
                      <a:r>
                        <a:rPr lang="en-IN" sz="1100"/>
                        <a:t>instrument_type_futcom</a:t>
                      </a:r>
                    </a:p>
                  </a:txBody>
                  <a:tcPr marL="82101" marR="82101" marT="41050" marB="41050" anchor="ctr"/>
                </a:tc>
                <a:tc>
                  <a:txBody>
                    <a:bodyPr/>
                    <a:lstStyle/>
                    <a:p>
                      <a:pPr>
                        <a:buNone/>
                      </a:pPr>
                      <a:r>
                        <a:rPr lang="en-IN" sz="1100" dirty="0" err="1"/>
                        <a:t>segment_energy</a:t>
                      </a:r>
                      <a:endParaRPr lang="en-IN" sz="1100" dirty="0"/>
                    </a:p>
                  </a:txBody>
                  <a:tcPr marL="82101" marR="82101" marT="41050" marB="41050" anchor="ctr"/>
                </a:tc>
                <a:tc>
                  <a:txBody>
                    <a:bodyPr/>
                    <a:lstStyle/>
                    <a:p>
                      <a:pPr>
                        <a:buNone/>
                      </a:pPr>
                      <a:r>
                        <a:rPr lang="en-IN" sz="1100" dirty="0"/>
                        <a:t>1.0</a:t>
                      </a:r>
                    </a:p>
                  </a:txBody>
                  <a:tcPr marL="82101" marR="82101" marT="41050" marB="41050" anchor="ctr"/>
                </a:tc>
                <a:tc>
                  <a:txBody>
                    <a:bodyPr/>
                    <a:lstStyle/>
                    <a:p>
                      <a:pPr>
                        <a:buNone/>
                      </a:pPr>
                      <a:r>
                        <a:rPr lang="en-IN" sz="1100"/>
                        <a:t>1.16</a:t>
                      </a:r>
                    </a:p>
                  </a:txBody>
                  <a:tcPr marL="82101" marR="82101" marT="41050" marB="41050" anchor="ctr"/>
                </a:tc>
                <a:tc>
                  <a:txBody>
                    <a:bodyPr/>
                    <a:lstStyle/>
                    <a:p>
                      <a:pPr>
                        <a:buNone/>
                      </a:pPr>
                      <a:r>
                        <a:rPr lang="en-US" sz="1100"/>
                        <a:t>Every FUTCOM instrument is always traded in the Energy segment</a:t>
                      </a:r>
                    </a:p>
                  </a:txBody>
                  <a:tcPr marL="82101" marR="82101" marT="41050" marB="41050" anchor="ctr"/>
                </a:tc>
                <a:extLst>
                  <a:ext uri="{0D108BD9-81ED-4DB2-BD59-A6C34878D82A}">
                    <a16:rowId xmlns:a16="http://schemas.microsoft.com/office/drawing/2014/main" val="3391483090"/>
                  </a:ext>
                </a:extLst>
              </a:tr>
              <a:tr h="668944">
                <a:tc>
                  <a:txBody>
                    <a:bodyPr/>
                    <a:lstStyle/>
                    <a:p>
                      <a:pPr>
                        <a:buNone/>
                      </a:pPr>
                      <a:r>
                        <a:rPr lang="en-IN" sz="1100"/>
                        <a:t>segment_index</a:t>
                      </a:r>
                    </a:p>
                  </a:txBody>
                  <a:tcPr marL="82101" marR="82101" marT="41050" marB="41050" anchor="ctr"/>
                </a:tc>
                <a:tc>
                  <a:txBody>
                    <a:bodyPr/>
                    <a:lstStyle/>
                    <a:p>
                      <a:pPr>
                        <a:buNone/>
                      </a:pPr>
                      <a:r>
                        <a:rPr lang="en-IN" sz="1100"/>
                        <a:t>instrument_type_futidx</a:t>
                      </a:r>
                    </a:p>
                  </a:txBody>
                  <a:tcPr marL="82101" marR="82101" marT="41050" marB="41050" anchor="ctr"/>
                </a:tc>
                <a:tc>
                  <a:txBody>
                    <a:bodyPr/>
                    <a:lstStyle/>
                    <a:p>
                      <a:pPr>
                        <a:buNone/>
                      </a:pPr>
                      <a:r>
                        <a:rPr lang="en-IN" sz="1100"/>
                        <a:t>1.0</a:t>
                      </a:r>
                    </a:p>
                  </a:txBody>
                  <a:tcPr marL="82101" marR="82101" marT="41050" marB="41050" anchor="ctr"/>
                </a:tc>
                <a:tc>
                  <a:txBody>
                    <a:bodyPr/>
                    <a:lstStyle/>
                    <a:p>
                      <a:pPr>
                        <a:buNone/>
                      </a:pPr>
                      <a:r>
                        <a:rPr lang="en-IN" sz="1100"/>
                        <a:t>7.11</a:t>
                      </a:r>
                    </a:p>
                  </a:txBody>
                  <a:tcPr marL="82101" marR="82101" marT="41050" marB="41050" anchor="ctr"/>
                </a:tc>
                <a:tc>
                  <a:txBody>
                    <a:bodyPr/>
                    <a:lstStyle/>
                    <a:p>
                      <a:pPr>
                        <a:buNone/>
                      </a:pPr>
                      <a:r>
                        <a:rPr lang="en-US" sz="1100"/>
                        <a:t>All Index segments are associated with FUTIDX instruments</a:t>
                      </a:r>
                    </a:p>
                  </a:txBody>
                  <a:tcPr marL="82101" marR="82101" marT="41050" marB="41050" anchor="ctr"/>
                </a:tc>
                <a:extLst>
                  <a:ext uri="{0D108BD9-81ED-4DB2-BD59-A6C34878D82A}">
                    <a16:rowId xmlns:a16="http://schemas.microsoft.com/office/drawing/2014/main" val="2329063584"/>
                  </a:ext>
                </a:extLst>
              </a:tr>
              <a:tr h="869425">
                <a:tc>
                  <a:txBody>
                    <a:bodyPr/>
                    <a:lstStyle/>
                    <a:p>
                      <a:pPr>
                        <a:buNone/>
                      </a:pPr>
                      <a:r>
                        <a:rPr lang="en-IN" sz="1100"/>
                        <a:t>commodity_naturalgas</a:t>
                      </a:r>
                    </a:p>
                  </a:txBody>
                  <a:tcPr marL="82101" marR="82101" marT="41050" marB="41050" anchor="ctr"/>
                </a:tc>
                <a:tc>
                  <a:txBody>
                    <a:bodyPr/>
                    <a:lstStyle/>
                    <a:p>
                      <a:pPr>
                        <a:buNone/>
                      </a:pPr>
                      <a:r>
                        <a:rPr lang="en-IN" sz="1100"/>
                        <a:t>instrument_type_futcom</a:t>
                      </a:r>
                    </a:p>
                  </a:txBody>
                  <a:tcPr marL="82101" marR="82101" marT="41050" marB="41050" anchor="ctr"/>
                </a:tc>
                <a:tc>
                  <a:txBody>
                    <a:bodyPr/>
                    <a:lstStyle/>
                    <a:p>
                      <a:pPr>
                        <a:buNone/>
                      </a:pPr>
                      <a:r>
                        <a:rPr lang="en-IN" sz="1100"/>
                        <a:t>1.0</a:t>
                      </a:r>
                    </a:p>
                  </a:txBody>
                  <a:tcPr marL="82101" marR="82101" marT="41050" marB="41050" anchor="ctr"/>
                </a:tc>
                <a:tc>
                  <a:txBody>
                    <a:bodyPr/>
                    <a:lstStyle/>
                    <a:p>
                      <a:pPr>
                        <a:buNone/>
                      </a:pPr>
                      <a:r>
                        <a:rPr lang="en-IN" sz="1100"/>
                        <a:t>1.16</a:t>
                      </a:r>
                    </a:p>
                  </a:txBody>
                  <a:tcPr marL="82101" marR="82101" marT="41050" marB="41050" anchor="ctr"/>
                </a:tc>
                <a:tc>
                  <a:txBody>
                    <a:bodyPr/>
                    <a:lstStyle/>
                    <a:p>
                      <a:pPr>
                        <a:buNone/>
                      </a:pPr>
                      <a:r>
                        <a:rPr lang="en-US" sz="1100"/>
                        <a:t>Whenever Natural Gas is traded, it is always via FUTCOM instruments</a:t>
                      </a:r>
                    </a:p>
                  </a:txBody>
                  <a:tcPr marL="82101" marR="82101" marT="41050" marB="41050" anchor="ctr"/>
                </a:tc>
                <a:extLst>
                  <a:ext uri="{0D108BD9-81ED-4DB2-BD59-A6C34878D82A}">
                    <a16:rowId xmlns:a16="http://schemas.microsoft.com/office/drawing/2014/main" val="4260788942"/>
                  </a:ext>
                </a:extLst>
              </a:tr>
              <a:tr h="1220551">
                <a:tc>
                  <a:txBody>
                    <a:bodyPr/>
                    <a:lstStyle/>
                    <a:p>
                      <a:pPr>
                        <a:buNone/>
                      </a:pPr>
                      <a:r>
                        <a:rPr lang="en-IN" sz="1100"/>
                        <a:t>commodity_mcxmetldex</a:t>
                      </a:r>
                    </a:p>
                  </a:txBody>
                  <a:tcPr marL="82101" marR="82101" marT="41050" marB="41050" anchor="ctr"/>
                </a:tc>
                <a:tc>
                  <a:txBody>
                    <a:bodyPr/>
                    <a:lstStyle/>
                    <a:p>
                      <a:pPr>
                        <a:buNone/>
                      </a:pPr>
                      <a:r>
                        <a:rPr lang="en-IN" sz="1100"/>
                        <a:t>instrument_type_futidx</a:t>
                      </a:r>
                    </a:p>
                  </a:txBody>
                  <a:tcPr marL="82101" marR="82101" marT="41050" marB="41050" anchor="ctr"/>
                </a:tc>
                <a:tc>
                  <a:txBody>
                    <a:bodyPr/>
                    <a:lstStyle/>
                    <a:p>
                      <a:pPr>
                        <a:buNone/>
                      </a:pPr>
                      <a:r>
                        <a:rPr lang="en-IN" sz="1100"/>
                        <a:t>1.0</a:t>
                      </a:r>
                    </a:p>
                  </a:txBody>
                  <a:tcPr marL="82101" marR="82101" marT="41050" marB="41050" anchor="ctr"/>
                </a:tc>
                <a:tc>
                  <a:txBody>
                    <a:bodyPr/>
                    <a:lstStyle/>
                    <a:p>
                      <a:pPr>
                        <a:buNone/>
                      </a:pPr>
                      <a:r>
                        <a:rPr lang="en-IN" sz="1100"/>
                        <a:t>7.11</a:t>
                      </a:r>
                    </a:p>
                  </a:txBody>
                  <a:tcPr marL="82101" marR="82101" marT="41050" marB="41050" anchor="ctr"/>
                </a:tc>
                <a:tc>
                  <a:txBody>
                    <a:bodyPr/>
                    <a:lstStyle/>
                    <a:p>
                      <a:pPr>
                        <a:buNone/>
                      </a:pPr>
                      <a:r>
                        <a:rPr lang="en-US" sz="1100" dirty="0"/>
                        <a:t>MCX Metal Index commodities are always linked with FUTIDX instruments</a:t>
                      </a:r>
                    </a:p>
                  </a:txBody>
                  <a:tcPr marL="82101" marR="82101" marT="41050" marB="41050" anchor="ctr"/>
                </a:tc>
                <a:extLst>
                  <a:ext uri="{0D108BD9-81ED-4DB2-BD59-A6C34878D82A}">
                    <a16:rowId xmlns:a16="http://schemas.microsoft.com/office/drawing/2014/main" val="682113475"/>
                  </a:ext>
                </a:extLst>
              </a:tr>
            </a:tbl>
          </a:graphicData>
        </a:graphic>
      </p:graphicFrame>
      <p:sp>
        <p:nvSpPr>
          <p:cNvPr id="8" name="TextBox 7">
            <a:extLst>
              <a:ext uri="{FF2B5EF4-FFF2-40B4-BE49-F238E27FC236}">
                <a16:creationId xmlns:a16="http://schemas.microsoft.com/office/drawing/2014/main" id="{CF40F498-A653-8EE3-E54C-1BE13582C08A}"/>
              </a:ext>
            </a:extLst>
          </p:cNvPr>
          <p:cNvSpPr txBox="1"/>
          <p:nvPr/>
        </p:nvSpPr>
        <p:spPr>
          <a:xfrm>
            <a:off x="7790133" y="5680564"/>
            <a:ext cx="3638894" cy="323165"/>
          </a:xfrm>
          <a:prstGeom prst="rect">
            <a:avLst/>
          </a:prstGeom>
          <a:noFill/>
        </p:spPr>
        <p:txBody>
          <a:bodyPr wrap="square" rtlCol="0">
            <a:spAutoFit/>
          </a:bodyPr>
          <a:lstStyle/>
          <a:p>
            <a:r>
              <a:rPr lang="en-US" sz="1500" dirty="0"/>
              <a:t>Fig : Association Rule Mining Results</a:t>
            </a:r>
            <a:endParaRPr lang="en-IN" sz="1500" dirty="0"/>
          </a:p>
        </p:txBody>
      </p:sp>
    </p:spTree>
    <p:extLst>
      <p:ext uri="{BB962C8B-B14F-4D97-AF65-F5344CB8AC3E}">
        <p14:creationId xmlns:p14="http://schemas.microsoft.com/office/powerpoint/2010/main" val="349095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3EA35-F3CC-429C-C18E-3E866D14E2FE}"/>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06B2C3B2-2C9C-670E-4D60-C106E347C08A}"/>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C4F7DAA7-5047-FD4C-303A-483255120F48}"/>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75784B24-908A-5EDA-9F15-F0A75E065307}"/>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19255BDC-5B03-DECC-4AEA-8C579DE674D2}"/>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9FB4168D-0848-7556-2673-83C7176D22B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B657E300-955D-B91A-9E66-C06C5D472D7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E71731A1-0DB6-2CBA-D458-7084DFA6F40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537483B5-679F-C8BD-C305-34B53EFD419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6872F6C0-6D25-76C6-3DE9-09EC6E8AFADF}"/>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6F208077-1D93-75C7-448D-1279FAE4C9E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B394A8B3-93D1-FA35-7ECB-33564CFAB82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6776A987-4B55-3F3E-64A4-2B6954BF989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5609CE3C-FD34-E501-B579-36F6F6601017}"/>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9F0D61E4-36A7-B399-64BE-A85A3C8688E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8B81A726-0870-6C74-56CE-564FDA74183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0CA9B541-F0A7-BBEE-86E4-A157D981E42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0B38246D-E8B2-3CC1-5EA5-15CA4033D279}"/>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9864F666-2E08-E9C7-7BB6-0BE217C2C0D0}"/>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AF3040E2-EA49-D797-5204-859A67710BF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289519D9-227B-4D83-5045-C258FEA2EB7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156833F9-8E30-E8D1-434F-D1C85B8D8E7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D8C13D94-B7B0-236B-58D3-190A255E588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656B70CA-773C-0B0E-ECB4-FD08E3379D5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CC1F858F-052F-956E-8D18-0FFA08531E03}"/>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7B161471-D6DE-94A3-4C8D-5D6983C3635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02D83A8F-4378-54B7-70C6-F868AE43F3A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20BFCD8E-2BDC-7B26-3681-BF3C31E97831}"/>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B4680EB7-72D7-A5D7-0BDA-25D5D5935BEC}"/>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0C095D0E-F52B-A179-6760-7BCE6113E3CE}"/>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C21C8740-0B0B-642E-F3DF-46AEB52EBEE7}"/>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0397C40C-5FBA-6CE1-E073-5E93E3F14E0D}"/>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6EEBF3FD-1FA3-7030-EFE3-57FAFAA51365}"/>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499BCFB7-83C9-C00B-8C80-41106D2DD6B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65972978-FEB0-80B2-5F12-29AB12F626AB}"/>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2F2B662A-E3A9-8F84-9133-DBD02D37355A}"/>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94BB2D79-B058-6D2A-A8D4-1FA6E170752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DBB0ADB6-B721-F493-C71C-3FC0EF3ADAD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68DBC0FC-DE88-4247-2889-F19AE294442C}"/>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4ECE5370-E429-4063-93DA-530126188093}"/>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2C883E05-7657-244C-F889-F876D247774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407AF84C-6B7A-EB71-7173-44ECCAB5EF0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4E3DD919-32E1-1A00-86F2-3F3EF2F872A1}"/>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F7090162-6DF3-5352-E841-2E7F89138DC8}"/>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CA59C754-5978-93DC-11B9-BF13028B21B7}"/>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4F8C0D3B-EBD0-3912-C4EB-119EE5934A6B}"/>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3C0E42B2-6A32-5B9F-0DB2-0A49634864A9}"/>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9EBCA1E1-FA83-42F9-6388-8F4018C71C3C}"/>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8035572D-6431-CBFE-B387-F98B3CB54A65}"/>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C9A29A20-7C57-447C-98A0-A134F8EAE1B4}"/>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9B43ACD2-7E9E-79CD-28D5-7CC037454BD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842AC6C5-22B1-0732-C77F-8A620F3EABDD}"/>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1DC4EB4E-F9C6-9ADF-50DC-BFC26CD3C12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2D976BDC-516E-13CD-CCC9-229290FC5FC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64DB868C-F258-078E-157E-11A46959D40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26911D73-8FBF-F7C3-0752-5E3A0D10030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E111FF3A-D649-AE9A-5A3F-4BA60486EE52}"/>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77A0642B-762F-7BEA-1957-CDE78E4EB31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C36A9ECA-BF69-74E2-1381-A4332C2F1B4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62A1263C-EC7D-FCB4-8D4D-C152D91E3CE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CD26DE8F-9310-9982-D826-215E11BA5FE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9478F5AD-EAB0-93B0-E9D2-F40B071CE977}"/>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629D7920-8AE4-9425-F802-3E61C203B8D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3386E85C-5988-9FB2-F760-F9177FBBC761}"/>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EB2BD773-29B8-C328-C9E1-4404D1BCCC0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6F47FDB6-343E-12F9-2EDE-CDFAD0EF88C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FA2362E5-9BEE-03C7-228C-D1F98FEC9D9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4FE4FE09-3D34-D521-F648-CF09D8A9B60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7150D7AB-7F6F-527E-E7EC-695D6BD1DFD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E50400EE-7363-1A78-18DE-4ECF3BAA905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3F994C45-9578-2C4B-4473-8A1C9162B16A}"/>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C11C338D-9DEF-6820-2398-29FCCCCBBF0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FAED79A-6104-B2A4-6C2C-4FCA0B7B9E2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DA8B7A64-1556-8329-FF42-20CD0BC99EE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615D7986-81A9-EBE0-9ABE-D98CA44C59B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6261EB50-DA54-1370-555C-5C2951EB45E9}"/>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Data Mining</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09021C9E-B8A8-7BA4-6928-B6E0A35057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28734778-2DC6-0FD4-9959-9DFA4D58D13C}"/>
              </a:ext>
            </a:extLst>
          </p:cNvPr>
          <p:cNvSpPr>
            <a:spLocks noGrp="1"/>
          </p:cNvSpPr>
          <p:nvPr>
            <p:ph type="sldNum" sz="quarter" idx="12"/>
          </p:nvPr>
        </p:nvSpPr>
        <p:spPr/>
        <p:txBody>
          <a:bodyPr/>
          <a:lstStyle/>
          <a:p>
            <a:fld id="{38A635C9-4A98-4745-BD96-9D0E32025E69}" type="slidenum">
              <a:rPr lang="en-IN" smtClean="0"/>
              <a:t>18</a:t>
            </a:fld>
            <a:endParaRPr lang="en-IN" dirty="0"/>
          </a:p>
        </p:txBody>
      </p:sp>
      <p:sp>
        <p:nvSpPr>
          <p:cNvPr id="8" name="TextBox 7">
            <a:extLst>
              <a:ext uri="{FF2B5EF4-FFF2-40B4-BE49-F238E27FC236}">
                <a16:creationId xmlns:a16="http://schemas.microsoft.com/office/drawing/2014/main" id="{6E33300B-869E-6901-8140-9A1BDDB04940}"/>
              </a:ext>
            </a:extLst>
          </p:cNvPr>
          <p:cNvSpPr txBox="1"/>
          <p:nvPr/>
        </p:nvSpPr>
        <p:spPr>
          <a:xfrm>
            <a:off x="4395190" y="5857063"/>
            <a:ext cx="3638894" cy="369332"/>
          </a:xfrm>
          <a:prstGeom prst="rect">
            <a:avLst/>
          </a:prstGeom>
          <a:noFill/>
        </p:spPr>
        <p:txBody>
          <a:bodyPr wrap="square" rtlCol="0">
            <a:spAutoFit/>
          </a:bodyPr>
          <a:lstStyle/>
          <a:p>
            <a:r>
              <a:rPr lang="en-US" dirty="0"/>
              <a:t>Fig : Association Rule Mining Results</a:t>
            </a:r>
            <a:endParaRPr lang="en-IN" dirty="0"/>
          </a:p>
        </p:txBody>
      </p:sp>
      <p:pic>
        <p:nvPicPr>
          <p:cNvPr id="7" name="Picture 6">
            <a:extLst>
              <a:ext uri="{FF2B5EF4-FFF2-40B4-BE49-F238E27FC236}">
                <a16:creationId xmlns:a16="http://schemas.microsoft.com/office/drawing/2014/main" id="{3A20090F-8861-B5CA-26E1-4D5D96A1AC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691" y="2975944"/>
            <a:ext cx="4300293" cy="2724530"/>
          </a:xfrm>
          <a:prstGeom prst="rect">
            <a:avLst/>
          </a:prstGeom>
        </p:spPr>
      </p:pic>
      <p:pic>
        <p:nvPicPr>
          <p:cNvPr id="11" name="Picture 10">
            <a:extLst>
              <a:ext uri="{FF2B5EF4-FFF2-40B4-BE49-F238E27FC236}">
                <a16:creationId xmlns:a16="http://schemas.microsoft.com/office/drawing/2014/main" id="{3B572363-2FF3-EC46-BAD1-A01439DC3C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3927" y="2975945"/>
            <a:ext cx="6957106" cy="2724529"/>
          </a:xfrm>
          <a:prstGeom prst="rect">
            <a:avLst/>
          </a:prstGeom>
        </p:spPr>
      </p:pic>
      <p:pic>
        <p:nvPicPr>
          <p:cNvPr id="15" name="Picture 14">
            <a:extLst>
              <a:ext uri="{FF2B5EF4-FFF2-40B4-BE49-F238E27FC236}">
                <a16:creationId xmlns:a16="http://schemas.microsoft.com/office/drawing/2014/main" id="{E32E0177-4053-99E9-547B-98D4CB6668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692" y="989245"/>
            <a:ext cx="11610342" cy="1811619"/>
          </a:xfrm>
          <a:prstGeom prst="rect">
            <a:avLst/>
          </a:prstGeom>
        </p:spPr>
      </p:pic>
    </p:spTree>
    <p:extLst>
      <p:ext uri="{BB962C8B-B14F-4D97-AF65-F5344CB8AC3E}">
        <p14:creationId xmlns:p14="http://schemas.microsoft.com/office/powerpoint/2010/main" val="3561687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C75A4-9AAA-734D-9CBA-651C297E8DEC}"/>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D12DEF6C-67C4-2A48-D2DC-CE16484E53C3}"/>
              </a:ext>
            </a:extLst>
          </p:cNvPr>
          <p:cNvGrpSpPr/>
          <p:nvPr/>
        </p:nvGrpSpPr>
        <p:grpSpPr>
          <a:xfrm>
            <a:off x="4232" y="6382984"/>
            <a:ext cx="12192000" cy="476250"/>
            <a:chOff x="0" y="6381750"/>
            <a:chExt cx="12192000" cy="476250"/>
          </a:xfrm>
          <a:solidFill>
            <a:srgbClr val="C00000"/>
          </a:solidFill>
        </p:grpSpPr>
        <p:sp>
          <p:nvSpPr>
            <p:cNvPr id="86" name="Rectangle 85">
              <a:extLst>
                <a:ext uri="{FF2B5EF4-FFF2-40B4-BE49-F238E27FC236}">
                  <a16:creationId xmlns:a16="http://schemas.microsoft.com/office/drawing/2014/main" id="{6B25544D-3CF1-A7B5-90B7-A44A62D932EE}"/>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88" name="Group 87">
              <a:extLst>
                <a:ext uri="{FF2B5EF4-FFF2-40B4-BE49-F238E27FC236}">
                  <a16:creationId xmlns:a16="http://schemas.microsoft.com/office/drawing/2014/main" id="{54B938DC-B3E1-99B4-762D-6F420ED5AB11}"/>
                </a:ext>
              </a:extLst>
            </p:cNvPr>
            <p:cNvGrpSpPr/>
            <p:nvPr/>
          </p:nvGrpSpPr>
          <p:grpSpPr>
            <a:xfrm>
              <a:off x="160089" y="6467143"/>
              <a:ext cx="4087748" cy="273466"/>
              <a:chOff x="4366684" y="2926127"/>
              <a:chExt cx="3278335" cy="2571063"/>
            </a:xfrm>
            <a:grpFill/>
          </p:grpSpPr>
          <p:sp>
            <p:nvSpPr>
              <p:cNvPr id="89" name="Freeform: Shape 4">
                <a:extLst>
                  <a:ext uri="{FF2B5EF4-FFF2-40B4-BE49-F238E27FC236}">
                    <a16:creationId xmlns:a16="http://schemas.microsoft.com/office/drawing/2014/main" id="{5DA13B09-D24C-7370-6AC5-26D367CC2B7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0" name="Freeform: Shape 5">
                <a:extLst>
                  <a:ext uri="{FF2B5EF4-FFF2-40B4-BE49-F238E27FC236}">
                    <a16:creationId xmlns:a16="http://schemas.microsoft.com/office/drawing/2014/main" id="{6B98FC27-C95F-5A36-E74D-56096200E62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1" name="Freeform: Shape 6">
                <a:extLst>
                  <a:ext uri="{FF2B5EF4-FFF2-40B4-BE49-F238E27FC236}">
                    <a16:creationId xmlns:a16="http://schemas.microsoft.com/office/drawing/2014/main" id="{6CAEE0AE-0594-61DA-E420-94DE4D9D375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2" name="Freeform: Shape 7">
                <a:extLst>
                  <a:ext uri="{FF2B5EF4-FFF2-40B4-BE49-F238E27FC236}">
                    <a16:creationId xmlns:a16="http://schemas.microsoft.com/office/drawing/2014/main" id="{6B2B2A6B-A81D-549D-2DAF-77197E037EDD}"/>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3" name="Freeform: Shape 8">
                <a:extLst>
                  <a:ext uri="{FF2B5EF4-FFF2-40B4-BE49-F238E27FC236}">
                    <a16:creationId xmlns:a16="http://schemas.microsoft.com/office/drawing/2014/main" id="{A99BE142-9F15-EA9B-BC67-272F12C9FD1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4" name="Freeform: Shape 9">
                <a:extLst>
                  <a:ext uri="{FF2B5EF4-FFF2-40B4-BE49-F238E27FC236}">
                    <a16:creationId xmlns:a16="http://schemas.microsoft.com/office/drawing/2014/main" id="{AC8C267D-2094-33AB-E85D-7AC48AE26F7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5" name="Freeform: Shape 10">
                <a:extLst>
                  <a:ext uri="{FF2B5EF4-FFF2-40B4-BE49-F238E27FC236}">
                    <a16:creationId xmlns:a16="http://schemas.microsoft.com/office/drawing/2014/main" id="{602D7E24-A9F2-AC34-DF8C-30FD89B0E634}"/>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6" name="Freeform: Shape 11">
                <a:extLst>
                  <a:ext uri="{FF2B5EF4-FFF2-40B4-BE49-F238E27FC236}">
                    <a16:creationId xmlns:a16="http://schemas.microsoft.com/office/drawing/2014/main" id="{20AC1237-7623-426D-641C-FE9E17944594}"/>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7" name="Freeform: Shape 12">
                <a:extLst>
                  <a:ext uri="{FF2B5EF4-FFF2-40B4-BE49-F238E27FC236}">
                    <a16:creationId xmlns:a16="http://schemas.microsoft.com/office/drawing/2014/main" id="{E8F8285A-94B1-F966-A03A-D948614F8A7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8" name="Freeform: Shape 13">
                <a:extLst>
                  <a:ext uri="{FF2B5EF4-FFF2-40B4-BE49-F238E27FC236}">
                    <a16:creationId xmlns:a16="http://schemas.microsoft.com/office/drawing/2014/main" id="{EDF31E91-E287-A934-7D5A-DB1D32CEE77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99" name="Freeform: Shape 14">
                <a:extLst>
                  <a:ext uri="{FF2B5EF4-FFF2-40B4-BE49-F238E27FC236}">
                    <a16:creationId xmlns:a16="http://schemas.microsoft.com/office/drawing/2014/main" id="{3ED04C34-1A8F-62DC-12C1-8D624312B81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0" name="Freeform: Shape 15">
                <a:extLst>
                  <a:ext uri="{FF2B5EF4-FFF2-40B4-BE49-F238E27FC236}">
                    <a16:creationId xmlns:a16="http://schemas.microsoft.com/office/drawing/2014/main" id="{8EDE8DC9-DFC4-70D8-26CF-B088A2C96884}"/>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1" name="Freeform: Shape 16">
                <a:extLst>
                  <a:ext uri="{FF2B5EF4-FFF2-40B4-BE49-F238E27FC236}">
                    <a16:creationId xmlns:a16="http://schemas.microsoft.com/office/drawing/2014/main" id="{825EAAA2-854E-479F-3152-D58F609A8E9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2" name="Freeform: Shape 17">
                <a:extLst>
                  <a:ext uri="{FF2B5EF4-FFF2-40B4-BE49-F238E27FC236}">
                    <a16:creationId xmlns:a16="http://schemas.microsoft.com/office/drawing/2014/main" id="{6D5E4937-A377-CA02-58A7-3DDD2B04F94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3" name="Freeform: Shape 18">
                <a:extLst>
                  <a:ext uri="{FF2B5EF4-FFF2-40B4-BE49-F238E27FC236}">
                    <a16:creationId xmlns:a16="http://schemas.microsoft.com/office/drawing/2014/main" id="{88647F96-871B-7FF9-774A-6D26BCF5DD84}"/>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4" name="Freeform: Shape 19">
                <a:extLst>
                  <a:ext uri="{FF2B5EF4-FFF2-40B4-BE49-F238E27FC236}">
                    <a16:creationId xmlns:a16="http://schemas.microsoft.com/office/drawing/2014/main" id="{8CD73990-D1F3-0A17-C833-D4A90875C99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5" name="Freeform: Shape 20">
                <a:extLst>
                  <a:ext uri="{FF2B5EF4-FFF2-40B4-BE49-F238E27FC236}">
                    <a16:creationId xmlns:a16="http://schemas.microsoft.com/office/drawing/2014/main" id="{6415D183-76B2-A9D6-87BB-E9F2A7ED951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6" name="Freeform: Shape 21">
                <a:extLst>
                  <a:ext uri="{FF2B5EF4-FFF2-40B4-BE49-F238E27FC236}">
                    <a16:creationId xmlns:a16="http://schemas.microsoft.com/office/drawing/2014/main" id="{86E686AE-3237-A7DC-65B4-A363FEB367B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7" name="Freeform: Shape 22">
                <a:extLst>
                  <a:ext uri="{FF2B5EF4-FFF2-40B4-BE49-F238E27FC236}">
                    <a16:creationId xmlns:a16="http://schemas.microsoft.com/office/drawing/2014/main" id="{45AD118F-DE09-5EA6-9514-AC1240407A7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8" name="Freeform: Shape 23">
                <a:extLst>
                  <a:ext uri="{FF2B5EF4-FFF2-40B4-BE49-F238E27FC236}">
                    <a16:creationId xmlns:a16="http://schemas.microsoft.com/office/drawing/2014/main" id="{796B2862-1705-5959-3AD4-24CAFACFE3D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09" name="Freeform: Shape 24">
                <a:extLst>
                  <a:ext uri="{FF2B5EF4-FFF2-40B4-BE49-F238E27FC236}">
                    <a16:creationId xmlns:a16="http://schemas.microsoft.com/office/drawing/2014/main" id="{1DB7227D-754A-401F-93E4-511EE2DE346F}"/>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0" name="Freeform: Shape 25">
                <a:extLst>
                  <a:ext uri="{FF2B5EF4-FFF2-40B4-BE49-F238E27FC236}">
                    <a16:creationId xmlns:a16="http://schemas.microsoft.com/office/drawing/2014/main" id="{35651244-F4E6-5ACB-F5D8-5DB20AC1088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1" name="Freeform: Shape 26">
                <a:extLst>
                  <a:ext uri="{FF2B5EF4-FFF2-40B4-BE49-F238E27FC236}">
                    <a16:creationId xmlns:a16="http://schemas.microsoft.com/office/drawing/2014/main" id="{E5F512D7-253B-B4FC-87AA-134B4D76E31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2" name="Freeform: Shape 27">
                <a:extLst>
                  <a:ext uri="{FF2B5EF4-FFF2-40B4-BE49-F238E27FC236}">
                    <a16:creationId xmlns:a16="http://schemas.microsoft.com/office/drawing/2014/main" id="{D9CFEE04-D502-C41A-5745-2910C5A8917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3" name="Freeform: Shape 28">
                <a:extLst>
                  <a:ext uri="{FF2B5EF4-FFF2-40B4-BE49-F238E27FC236}">
                    <a16:creationId xmlns:a16="http://schemas.microsoft.com/office/drawing/2014/main" id="{65241F00-40F2-AF5B-79A0-4FCF4824F31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4" name="Freeform: Shape 29">
                <a:extLst>
                  <a:ext uri="{FF2B5EF4-FFF2-40B4-BE49-F238E27FC236}">
                    <a16:creationId xmlns:a16="http://schemas.microsoft.com/office/drawing/2014/main" id="{C2B09CBB-535F-217C-7413-694BC69F918E}"/>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5" name="Freeform: Shape 30">
                <a:extLst>
                  <a:ext uri="{FF2B5EF4-FFF2-40B4-BE49-F238E27FC236}">
                    <a16:creationId xmlns:a16="http://schemas.microsoft.com/office/drawing/2014/main" id="{023A9A80-1AAF-6D62-A607-4DCA83AF37D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6" name="Freeform: Shape 31">
                <a:extLst>
                  <a:ext uri="{FF2B5EF4-FFF2-40B4-BE49-F238E27FC236}">
                    <a16:creationId xmlns:a16="http://schemas.microsoft.com/office/drawing/2014/main" id="{66DB9B8F-D763-27E2-5DF0-90E4B033839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7" name="Freeform: Shape 32">
                <a:extLst>
                  <a:ext uri="{FF2B5EF4-FFF2-40B4-BE49-F238E27FC236}">
                    <a16:creationId xmlns:a16="http://schemas.microsoft.com/office/drawing/2014/main" id="{0598650B-63B0-1C6F-CF6F-E9AD1724E6B4}"/>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8" name="Freeform: Shape 33">
                <a:extLst>
                  <a:ext uri="{FF2B5EF4-FFF2-40B4-BE49-F238E27FC236}">
                    <a16:creationId xmlns:a16="http://schemas.microsoft.com/office/drawing/2014/main" id="{C9ED51E1-7ACD-5F00-0AC7-F975407F8774}"/>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9" name="Freeform: Shape 34">
                <a:extLst>
                  <a:ext uri="{FF2B5EF4-FFF2-40B4-BE49-F238E27FC236}">
                    <a16:creationId xmlns:a16="http://schemas.microsoft.com/office/drawing/2014/main" id="{07C4CD5A-A869-6F14-AB40-051D940F8DC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0" name="Freeform: Shape 35">
                <a:extLst>
                  <a:ext uri="{FF2B5EF4-FFF2-40B4-BE49-F238E27FC236}">
                    <a16:creationId xmlns:a16="http://schemas.microsoft.com/office/drawing/2014/main" id="{3E19BE7B-4210-6453-C9C0-C751B301713F}"/>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1" name="Freeform: Shape 36">
                <a:extLst>
                  <a:ext uri="{FF2B5EF4-FFF2-40B4-BE49-F238E27FC236}">
                    <a16:creationId xmlns:a16="http://schemas.microsoft.com/office/drawing/2014/main" id="{D41A6369-BC97-8C84-96FC-A793526E1F8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2" name="Freeform: Shape 37">
                <a:extLst>
                  <a:ext uri="{FF2B5EF4-FFF2-40B4-BE49-F238E27FC236}">
                    <a16:creationId xmlns:a16="http://schemas.microsoft.com/office/drawing/2014/main" id="{B5926E73-870F-5A3C-71F9-C55F1954EB3E}"/>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3" name="Freeform: Shape 38">
                <a:extLst>
                  <a:ext uri="{FF2B5EF4-FFF2-40B4-BE49-F238E27FC236}">
                    <a16:creationId xmlns:a16="http://schemas.microsoft.com/office/drawing/2014/main" id="{F142F04D-212A-2A45-877D-4A030F78691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124" name="Group 123">
            <a:extLst>
              <a:ext uri="{FF2B5EF4-FFF2-40B4-BE49-F238E27FC236}">
                <a16:creationId xmlns:a16="http://schemas.microsoft.com/office/drawing/2014/main" id="{2257614B-2BA7-203F-9DE0-1E74B0B60D88}"/>
              </a:ext>
            </a:extLst>
          </p:cNvPr>
          <p:cNvGrpSpPr/>
          <p:nvPr/>
        </p:nvGrpSpPr>
        <p:grpSpPr>
          <a:xfrm>
            <a:off x="166248" y="6490548"/>
            <a:ext cx="4247655" cy="273466"/>
            <a:chOff x="4366684" y="2926127"/>
            <a:chExt cx="3278335" cy="2571063"/>
          </a:xfrm>
        </p:grpSpPr>
        <p:sp>
          <p:nvSpPr>
            <p:cNvPr id="125" name="Freeform: Shape 4">
              <a:extLst>
                <a:ext uri="{FF2B5EF4-FFF2-40B4-BE49-F238E27FC236}">
                  <a16:creationId xmlns:a16="http://schemas.microsoft.com/office/drawing/2014/main" id="{7DAA20C9-DA62-4FF4-8A4B-82A6EC049FB8}"/>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6" name="Freeform: Shape 5">
              <a:extLst>
                <a:ext uri="{FF2B5EF4-FFF2-40B4-BE49-F238E27FC236}">
                  <a16:creationId xmlns:a16="http://schemas.microsoft.com/office/drawing/2014/main" id="{8CE9B90F-4362-30FB-938C-C3A47F2B4B9E}"/>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7" name="Freeform: Shape 6">
              <a:extLst>
                <a:ext uri="{FF2B5EF4-FFF2-40B4-BE49-F238E27FC236}">
                  <a16:creationId xmlns:a16="http://schemas.microsoft.com/office/drawing/2014/main" id="{A5541C97-0AB1-5F57-27BF-9EE6EA6BEDB9}"/>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8" name="Freeform: Shape 7">
              <a:extLst>
                <a:ext uri="{FF2B5EF4-FFF2-40B4-BE49-F238E27FC236}">
                  <a16:creationId xmlns:a16="http://schemas.microsoft.com/office/drawing/2014/main" id="{D9BB17E0-6577-E0C0-2C06-4E9A0E8BB846}"/>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29" name="Freeform: Shape 8">
              <a:extLst>
                <a:ext uri="{FF2B5EF4-FFF2-40B4-BE49-F238E27FC236}">
                  <a16:creationId xmlns:a16="http://schemas.microsoft.com/office/drawing/2014/main" id="{C0489DE4-010E-6CFA-E55E-2C105E39A85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0" name="Freeform: Shape 9">
              <a:extLst>
                <a:ext uri="{FF2B5EF4-FFF2-40B4-BE49-F238E27FC236}">
                  <a16:creationId xmlns:a16="http://schemas.microsoft.com/office/drawing/2014/main" id="{9B4CC4D1-4238-8C43-3E7E-D7DBA1AD7D37}"/>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1" name="Freeform: Shape 10">
              <a:extLst>
                <a:ext uri="{FF2B5EF4-FFF2-40B4-BE49-F238E27FC236}">
                  <a16:creationId xmlns:a16="http://schemas.microsoft.com/office/drawing/2014/main" id="{9561EE9F-5664-A865-EC38-B8ED70FA437F}"/>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2" name="Freeform: Shape 11">
              <a:extLst>
                <a:ext uri="{FF2B5EF4-FFF2-40B4-BE49-F238E27FC236}">
                  <a16:creationId xmlns:a16="http://schemas.microsoft.com/office/drawing/2014/main" id="{322F62BA-8C68-79E8-C355-C2D12DEE20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3" name="Freeform: Shape 12">
              <a:extLst>
                <a:ext uri="{FF2B5EF4-FFF2-40B4-BE49-F238E27FC236}">
                  <a16:creationId xmlns:a16="http://schemas.microsoft.com/office/drawing/2014/main" id="{73901473-A5A0-95C3-49C7-CFE14BB8D7A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4" name="Freeform: Shape 13">
              <a:extLst>
                <a:ext uri="{FF2B5EF4-FFF2-40B4-BE49-F238E27FC236}">
                  <a16:creationId xmlns:a16="http://schemas.microsoft.com/office/drawing/2014/main" id="{8828B752-C178-DDF7-60C1-F9FD1923AB19}"/>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5" name="Freeform: Shape 14">
              <a:extLst>
                <a:ext uri="{FF2B5EF4-FFF2-40B4-BE49-F238E27FC236}">
                  <a16:creationId xmlns:a16="http://schemas.microsoft.com/office/drawing/2014/main" id="{36A5820B-2A3E-0C3C-3286-FCFCA8A2681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6" name="Freeform: Shape 15">
              <a:extLst>
                <a:ext uri="{FF2B5EF4-FFF2-40B4-BE49-F238E27FC236}">
                  <a16:creationId xmlns:a16="http://schemas.microsoft.com/office/drawing/2014/main" id="{2E77B39C-25F5-ABF4-9D55-FA7E071BD24F}"/>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7" name="Freeform: Shape 16">
              <a:extLst>
                <a:ext uri="{FF2B5EF4-FFF2-40B4-BE49-F238E27FC236}">
                  <a16:creationId xmlns:a16="http://schemas.microsoft.com/office/drawing/2014/main" id="{F84F075E-9F8F-54D6-B72C-A72556706D0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8" name="Freeform: Shape 17">
              <a:extLst>
                <a:ext uri="{FF2B5EF4-FFF2-40B4-BE49-F238E27FC236}">
                  <a16:creationId xmlns:a16="http://schemas.microsoft.com/office/drawing/2014/main" id="{0163024D-081E-D8A4-E401-C0203CCE832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39" name="Freeform: Shape 18">
              <a:extLst>
                <a:ext uri="{FF2B5EF4-FFF2-40B4-BE49-F238E27FC236}">
                  <a16:creationId xmlns:a16="http://schemas.microsoft.com/office/drawing/2014/main" id="{51BA2AD3-016C-D574-7331-BD0AA9F7726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0" name="Freeform: Shape 19">
              <a:extLst>
                <a:ext uri="{FF2B5EF4-FFF2-40B4-BE49-F238E27FC236}">
                  <a16:creationId xmlns:a16="http://schemas.microsoft.com/office/drawing/2014/main" id="{B5166C88-4B5C-760C-7E78-42DC61B11A0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1" name="Freeform: Shape 20">
              <a:extLst>
                <a:ext uri="{FF2B5EF4-FFF2-40B4-BE49-F238E27FC236}">
                  <a16:creationId xmlns:a16="http://schemas.microsoft.com/office/drawing/2014/main" id="{CFE1D0E7-8D5C-5EA2-DBB1-D36EE153539E}"/>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2" name="Freeform: Shape 21">
              <a:extLst>
                <a:ext uri="{FF2B5EF4-FFF2-40B4-BE49-F238E27FC236}">
                  <a16:creationId xmlns:a16="http://schemas.microsoft.com/office/drawing/2014/main" id="{84AEA96F-FBB7-4811-374D-083EBD163417}"/>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3" name="Freeform: Shape 22">
              <a:extLst>
                <a:ext uri="{FF2B5EF4-FFF2-40B4-BE49-F238E27FC236}">
                  <a16:creationId xmlns:a16="http://schemas.microsoft.com/office/drawing/2014/main" id="{ED7464BB-82DE-D917-1FF9-D6F4D293EF15}"/>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4" name="Freeform: Shape 23">
              <a:extLst>
                <a:ext uri="{FF2B5EF4-FFF2-40B4-BE49-F238E27FC236}">
                  <a16:creationId xmlns:a16="http://schemas.microsoft.com/office/drawing/2014/main" id="{B08950A3-2C3D-0C4A-ED3A-FF04A07DB42D}"/>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5" name="Freeform: Shape 24">
              <a:extLst>
                <a:ext uri="{FF2B5EF4-FFF2-40B4-BE49-F238E27FC236}">
                  <a16:creationId xmlns:a16="http://schemas.microsoft.com/office/drawing/2014/main" id="{FE0AD7E5-B041-90B2-881B-ECF815B2969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6" name="Freeform: Shape 25">
              <a:extLst>
                <a:ext uri="{FF2B5EF4-FFF2-40B4-BE49-F238E27FC236}">
                  <a16:creationId xmlns:a16="http://schemas.microsoft.com/office/drawing/2014/main" id="{B6A9DB3D-2819-9D13-D628-7308EA27E6E9}"/>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7" name="Freeform: Shape 26">
              <a:extLst>
                <a:ext uri="{FF2B5EF4-FFF2-40B4-BE49-F238E27FC236}">
                  <a16:creationId xmlns:a16="http://schemas.microsoft.com/office/drawing/2014/main" id="{30D96059-92D8-99DD-2547-D6B27857F8F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8" name="Freeform: Shape 27">
              <a:extLst>
                <a:ext uri="{FF2B5EF4-FFF2-40B4-BE49-F238E27FC236}">
                  <a16:creationId xmlns:a16="http://schemas.microsoft.com/office/drawing/2014/main" id="{EDC095F5-BF57-7AB3-BDE5-BF8FC1A3B8A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49" name="Freeform: Shape 28">
              <a:extLst>
                <a:ext uri="{FF2B5EF4-FFF2-40B4-BE49-F238E27FC236}">
                  <a16:creationId xmlns:a16="http://schemas.microsoft.com/office/drawing/2014/main" id="{4C7D291A-35AE-98D9-A44A-3CA7CE81AC03}"/>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0" name="Freeform: Shape 29">
              <a:extLst>
                <a:ext uri="{FF2B5EF4-FFF2-40B4-BE49-F238E27FC236}">
                  <a16:creationId xmlns:a16="http://schemas.microsoft.com/office/drawing/2014/main" id="{45D72433-FAD6-45BB-2A9C-9D0507B97D5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1" name="Freeform: Shape 30">
              <a:extLst>
                <a:ext uri="{FF2B5EF4-FFF2-40B4-BE49-F238E27FC236}">
                  <a16:creationId xmlns:a16="http://schemas.microsoft.com/office/drawing/2014/main" id="{7E728506-B69C-766B-E54A-96BC74F8690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2" name="Freeform: Shape 31">
              <a:extLst>
                <a:ext uri="{FF2B5EF4-FFF2-40B4-BE49-F238E27FC236}">
                  <a16:creationId xmlns:a16="http://schemas.microsoft.com/office/drawing/2014/main" id="{0E291D40-41CB-A6AC-361B-205CE00900F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3" name="Freeform: Shape 32">
              <a:extLst>
                <a:ext uri="{FF2B5EF4-FFF2-40B4-BE49-F238E27FC236}">
                  <a16:creationId xmlns:a16="http://schemas.microsoft.com/office/drawing/2014/main" id="{DC244CBD-4E85-59D8-9A86-4174BACDB41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4" name="Freeform: Shape 33">
              <a:extLst>
                <a:ext uri="{FF2B5EF4-FFF2-40B4-BE49-F238E27FC236}">
                  <a16:creationId xmlns:a16="http://schemas.microsoft.com/office/drawing/2014/main" id="{5A92E718-8044-A5B5-5CCC-49C865025E6C}"/>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5" name="Freeform: Shape 34">
              <a:extLst>
                <a:ext uri="{FF2B5EF4-FFF2-40B4-BE49-F238E27FC236}">
                  <a16:creationId xmlns:a16="http://schemas.microsoft.com/office/drawing/2014/main" id="{B17411BE-4289-068B-865D-3ED1AFA1C287}"/>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6" name="Freeform: Shape 35">
              <a:extLst>
                <a:ext uri="{FF2B5EF4-FFF2-40B4-BE49-F238E27FC236}">
                  <a16:creationId xmlns:a16="http://schemas.microsoft.com/office/drawing/2014/main" id="{5AA93D4F-858C-AD1E-3F31-EFEE9F2F510D}"/>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7" name="Freeform: Shape 36">
              <a:extLst>
                <a:ext uri="{FF2B5EF4-FFF2-40B4-BE49-F238E27FC236}">
                  <a16:creationId xmlns:a16="http://schemas.microsoft.com/office/drawing/2014/main" id="{6726C432-BC15-DA7F-73BB-465DD38A57AA}"/>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8" name="Freeform: Shape 37">
              <a:extLst>
                <a:ext uri="{FF2B5EF4-FFF2-40B4-BE49-F238E27FC236}">
                  <a16:creationId xmlns:a16="http://schemas.microsoft.com/office/drawing/2014/main" id="{7B95165D-0291-72AF-1D4A-FFBE58198CB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159" name="Freeform: Shape 38">
              <a:extLst>
                <a:ext uri="{FF2B5EF4-FFF2-40B4-BE49-F238E27FC236}">
                  <a16:creationId xmlns:a16="http://schemas.microsoft.com/office/drawing/2014/main" id="{819E8436-A84E-4F48-A0DF-B9FFDEC7048E}"/>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2" name="Rectangle 1">
            <a:extLst>
              <a:ext uri="{FF2B5EF4-FFF2-40B4-BE49-F238E27FC236}">
                <a16:creationId xmlns:a16="http://schemas.microsoft.com/office/drawing/2014/main" id="{9D608BF1-0C50-C903-509A-A552CA99B2C1}"/>
              </a:ext>
            </a:extLst>
          </p:cNvPr>
          <p:cNvSpPr/>
          <p:nvPr/>
        </p:nvSpPr>
        <p:spPr>
          <a:xfrm>
            <a:off x="0" y="-699"/>
            <a:ext cx="12191999" cy="646331"/>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algn="ctr"/>
            <a:r>
              <a:rPr lang="en-US" altLang="ko-KR" sz="3600" dirty="0">
                <a:solidFill>
                  <a:srgbClr val="000099"/>
                </a:solidFill>
                <a:latin typeface="Times New Roman" pitchFamily="18" charset="0"/>
                <a:cs typeface="Times New Roman" pitchFamily="18" charset="0"/>
              </a:rPr>
              <a:t>   </a:t>
            </a:r>
            <a:endParaRPr lang="ko-KR" altLang="en-US" sz="3600" dirty="0">
              <a:solidFill>
                <a:srgbClr val="000099"/>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DD77C02C-9AEF-20FE-A956-EB0A4B072E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87" y="34941"/>
            <a:ext cx="1343005" cy="575049"/>
          </a:xfrm>
          <a:prstGeom prst="rect">
            <a:avLst/>
          </a:prstGeom>
        </p:spPr>
      </p:pic>
      <p:sp>
        <p:nvSpPr>
          <p:cNvPr id="5" name="Slide Number Placeholder 4">
            <a:extLst>
              <a:ext uri="{FF2B5EF4-FFF2-40B4-BE49-F238E27FC236}">
                <a16:creationId xmlns:a16="http://schemas.microsoft.com/office/drawing/2014/main" id="{84E43E8F-A03E-9CB5-95FA-1647D7B36DDC}"/>
              </a:ext>
            </a:extLst>
          </p:cNvPr>
          <p:cNvSpPr>
            <a:spLocks noGrp="1"/>
          </p:cNvSpPr>
          <p:nvPr>
            <p:ph type="sldNum" sz="quarter" idx="12"/>
          </p:nvPr>
        </p:nvSpPr>
        <p:spPr/>
        <p:txBody>
          <a:bodyPr/>
          <a:lstStyle/>
          <a:p>
            <a:fld id="{38A635C9-4A98-4745-BD96-9D0E32025E69}" type="slidenum">
              <a:rPr lang="en-IN" smtClean="0"/>
              <a:t>19</a:t>
            </a:fld>
            <a:endParaRPr lang="en-IN" dirty="0"/>
          </a:p>
        </p:txBody>
      </p:sp>
      <p:pic>
        <p:nvPicPr>
          <p:cNvPr id="9" name="Picture 8">
            <a:extLst>
              <a:ext uri="{FF2B5EF4-FFF2-40B4-BE49-F238E27FC236}">
                <a16:creationId xmlns:a16="http://schemas.microsoft.com/office/drawing/2014/main" id="{5D002710-3025-1103-88B9-DEA8401647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8921" y="1097517"/>
            <a:ext cx="8904630" cy="4750985"/>
          </a:xfrm>
          <a:prstGeom prst="rect">
            <a:avLst/>
          </a:prstGeom>
        </p:spPr>
      </p:pic>
    </p:spTree>
    <p:extLst>
      <p:ext uri="{BB962C8B-B14F-4D97-AF65-F5344CB8AC3E}">
        <p14:creationId xmlns:p14="http://schemas.microsoft.com/office/powerpoint/2010/main" val="3548870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2946</TotalTime>
  <Words>2222</Words>
  <Application>Microsoft Office PowerPoint</Application>
  <PresentationFormat>Widescreen</PresentationFormat>
  <Paragraphs>180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mukund kuthe</cp:lastModifiedBy>
  <cp:revision>131</cp:revision>
  <dcterms:created xsi:type="dcterms:W3CDTF">2024-06-03T04:50:38Z</dcterms:created>
  <dcterms:modified xsi:type="dcterms:W3CDTF">2025-11-09T06:39:01Z</dcterms:modified>
</cp:coreProperties>
</file>